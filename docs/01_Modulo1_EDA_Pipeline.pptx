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0" r:id="rId3"/>
    <p:sldId id="281" r:id="rId4"/>
    <p:sldId id="257" r:id="rId5"/>
    <p:sldId id="277" r:id="rId6"/>
    <p:sldId id="278" r:id="rId7"/>
    <p:sldId id="279" r:id="rId8"/>
    <p:sldId id="258" r:id="rId9"/>
    <p:sldId id="283" r:id="rId10"/>
    <p:sldId id="284" r:id="rId11"/>
    <p:sldId id="285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F8FFAD-BEB1-48D7-B0BD-F9527247334A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DD40474-8231-4512-A558-D9E6FA996939}">
      <dgm:prSet/>
      <dgm:spPr/>
      <dgm:t>
        <a:bodyPr/>
        <a:lstStyle/>
        <a:p>
          <a:r>
            <a:rPr lang="en-US"/>
            <a:t>- pandas (pd): manejo de datos tabulares en DataFrame (read_csv, head, dtypes, isna, describe, value_counts, select_dtypes, nunique).</a:t>
          </a:r>
        </a:p>
      </dgm:t>
    </dgm:pt>
    <dgm:pt modelId="{3264DCC2-B486-4D88-B46F-D47716B09D82}" type="parTrans" cxnId="{0ACA15F0-95D2-46D2-B564-219D08B561F4}">
      <dgm:prSet/>
      <dgm:spPr/>
      <dgm:t>
        <a:bodyPr/>
        <a:lstStyle/>
        <a:p>
          <a:endParaRPr lang="en-US"/>
        </a:p>
      </dgm:t>
    </dgm:pt>
    <dgm:pt modelId="{CA8BB874-2285-448E-B7EE-9468F16D410E}" type="sibTrans" cxnId="{0ACA15F0-95D2-46D2-B564-219D08B561F4}">
      <dgm:prSet/>
      <dgm:spPr/>
      <dgm:t>
        <a:bodyPr/>
        <a:lstStyle/>
        <a:p>
          <a:endParaRPr lang="en-US"/>
        </a:p>
      </dgm:t>
    </dgm:pt>
    <dgm:pt modelId="{9B9E7F11-0C59-40E2-AA0C-FE3100A156C8}">
      <dgm:prSet/>
      <dgm:spPr/>
      <dgm:t>
        <a:bodyPr/>
        <a:lstStyle/>
        <a:p>
          <a:r>
            <a:rPr lang="en-US"/>
            <a:t>- pathlib.Path: manejo robusto de rutas de archivo (existe/no existe).</a:t>
          </a:r>
        </a:p>
      </dgm:t>
    </dgm:pt>
    <dgm:pt modelId="{267C6F53-32EB-4300-9092-A058BBFF93AD}" type="parTrans" cxnId="{B0798C28-A49B-4B86-81DD-D9A80CCAD758}">
      <dgm:prSet/>
      <dgm:spPr/>
      <dgm:t>
        <a:bodyPr/>
        <a:lstStyle/>
        <a:p>
          <a:endParaRPr lang="en-US"/>
        </a:p>
      </dgm:t>
    </dgm:pt>
    <dgm:pt modelId="{2D295B36-D2D4-49DA-B001-ACED79AE0926}" type="sibTrans" cxnId="{B0798C28-A49B-4B86-81DD-D9A80CCAD758}">
      <dgm:prSet/>
      <dgm:spPr/>
      <dgm:t>
        <a:bodyPr/>
        <a:lstStyle/>
        <a:p>
          <a:endParaRPr lang="en-US"/>
        </a:p>
      </dgm:t>
    </dgm:pt>
    <dgm:pt modelId="{74996A73-87D5-4BA4-B574-69990C6E42BC}">
      <dgm:prSet/>
      <dgm:spPr/>
      <dgm:t>
        <a:bodyPr/>
        <a:lstStyle/>
        <a:p>
          <a:r>
            <a:rPr lang="en-US"/>
            <a:t>- numpy (np): identifica columnas numéricas y soporta operaciones numéricas.</a:t>
          </a:r>
        </a:p>
      </dgm:t>
    </dgm:pt>
    <dgm:pt modelId="{1FABB1CE-BF32-4F14-BF8C-65F205BB6D4B}" type="parTrans" cxnId="{498E9D7A-96FE-4ABA-B69E-03CEFCB488C6}">
      <dgm:prSet/>
      <dgm:spPr/>
      <dgm:t>
        <a:bodyPr/>
        <a:lstStyle/>
        <a:p>
          <a:endParaRPr lang="en-US"/>
        </a:p>
      </dgm:t>
    </dgm:pt>
    <dgm:pt modelId="{69D6AE9A-5A80-433F-A3B6-60D7BACCECEF}" type="sibTrans" cxnId="{498E9D7A-96FE-4ABA-B69E-03CEFCB488C6}">
      <dgm:prSet/>
      <dgm:spPr/>
      <dgm:t>
        <a:bodyPr/>
        <a:lstStyle/>
        <a:p>
          <a:endParaRPr lang="en-US"/>
        </a:p>
      </dgm:t>
    </dgm:pt>
    <dgm:pt modelId="{159928AF-446B-40DE-8CE3-BC9DC3567E95}">
      <dgm:prSet/>
      <dgm:spPr/>
      <dgm:t>
        <a:bodyPr/>
        <a:lstStyle/>
        <a:p>
          <a:r>
            <a:rPr lang="en-US"/>
            <a:t>- matplotlib.pyplot (plt): gráficos rápidos (barras, histogramas, boxplots).</a:t>
          </a:r>
        </a:p>
      </dgm:t>
    </dgm:pt>
    <dgm:pt modelId="{A5FF31F7-3574-4BC9-9BEA-E719EDBFD895}" type="parTrans" cxnId="{9F5708D6-B51E-4CFD-B5AA-8ED3624F435F}">
      <dgm:prSet/>
      <dgm:spPr/>
      <dgm:t>
        <a:bodyPr/>
        <a:lstStyle/>
        <a:p>
          <a:endParaRPr lang="en-US"/>
        </a:p>
      </dgm:t>
    </dgm:pt>
    <dgm:pt modelId="{9A0E050E-FC78-4F2A-888F-564BBC0C7B22}" type="sibTrans" cxnId="{9F5708D6-B51E-4CFD-B5AA-8ED3624F435F}">
      <dgm:prSet/>
      <dgm:spPr/>
      <dgm:t>
        <a:bodyPr/>
        <a:lstStyle/>
        <a:p>
          <a:endParaRPr lang="en-US"/>
        </a:p>
      </dgm:t>
    </dgm:pt>
    <dgm:pt modelId="{C9BF86F9-81D4-4898-974A-A14A7024492D}">
      <dgm:prSet/>
      <dgm:spPr/>
      <dgm:t>
        <a:bodyPr/>
        <a:lstStyle/>
        <a:p>
          <a:r>
            <a:rPr lang="en-US"/>
            <a:t>- Funciones propias:</a:t>
          </a:r>
        </a:p>
      </dgm:t>
    </dgm:pt>
    <dgm:pt modelId="{99D6EE2A-4F22-4087-B865-0689E4B97151}" type="parTrans" cxnId="{EE8319C3-ACDF-4C06-A2B4-B2BFFD0B3986}">
      <dgm:prSet/>
      <dgm:spPr/>
      <dgm:t>
        <a:bodyPr/>
        <a:lstStyle/>
        <a:p>
          <a:endParaRPr lang="en-US"/>
        </a:p>
      </dgm:t>
    </dgm:pt>
    <dgm:pt modelId="{C4FD865F-005F-4B6A-89F1-CCA7EEB2A0B3}" type="sibTrans" cxnId="{EE8319C3-ACDF-4C06-A2B4-B2BFFD0B3986}">
      <dgm:prSet/>
      <dgm:spPr/>
      <dgm:t>
        <a:bodyPr/>
        <a:lstStyle/>
        <a:p>
          <a:endParaRPr lang="en-US"/>
        </a:p>
      </dgm:t>
    </dgm:pt>
    <dgm:pt modelId="{60CEC910-90F7-4288-B5AD-74E6B591A599}">
      <dgm:prSet/>
      <dgm:spPr/>
      <dgm:t>
        <a:bodyPr/>
        <a:lstStyle/>
        <a:p>
          <a:r>
            <a:rPr lang="en-US"/>
            <a:t>• cargar_csv(...): intenta leer un CSV con diferentes encodings y valida existencia.</a:t>
          </a:r>
        </a:p>
      </dgm:t>
    </dgm:pt>
    <dgm:pt modelId="{9D1C51FB-2166-430A-BDF7-9DB5C535C89D}" type="parTrans" cxnId="{4D8A8EA5-FF06-4D71-8D15-331E3B130BAE}">
      <dgm:prSet/>
      <dgm:spPr/>
      <dgm:t>
        <a:bodyPr/>
        <a:lstStyle/>
        <a:p>
          <a:endParaRPr lang="en-US"/>
        </a:p>
      </dgm:t>
    </dgm:pt>
    <dgm:pt modelId="{0D042D36-1A31-4D49-ADFA-A66783566D40}" type="sibTrans" cxnId="{4D8A8EA5-FF06-4D71-8D15-331E3B130BAE}">
      <dgm:prSet/>
      <dgm:spPr/>
      <dgm:t>
        <a:bodyPr/>
        <a:lstStyle/>
        <a:p>
          <a:endParaRPr lang="en-US"/>
        </a:p>
      </dgm:t>
    </dgm:pt>
    <dgm:pt modelId="{5F48CFF2-1B8E-4F0E-AB58-21A3D6D460DB}">
      <dgm:prSet/>
      <dgm:spPr/>
      <dgm:t>
        <a:bodyPr/>
        <a:lstStyle/>
        <a:p>
          <a:r>
            <a:rPr lang="en-US"/>
            <a:t>• resumen_columnas(df): tabla de calidad (tipo, faltantes, % faltantes, cardinalidad).</a:t>
          </a:r>
        </a:p>
      </dgm:t>
    </dgm:pt>
    <dgm:pt modelId="{59C682E6-3671-42A4-B9E2-EB6B8E1A0461}" type="parTrans" cxnId="{65331DAA-8C4E-4D01-89FC-8D462CCDF443}">
      <dgm:prSet/>
      <dgm:spPr/>
      <dgm:t>
        <a:bodyPr/>
        <a:lstStyle/>
        <a:p>
          <a:endParaRPr lang="en-US"/>
        </a:p>
      </dgm:t>
    </dgm:pt>
    <dgm:pt modelId="{B9974641-0C44-4798-B2AC-40DAA5AE9F66}" type="sibTrans" cxnId="{65331DAA-8C4E-4D01-89FC-8D462CCDF443}">
      <dgm:prSet/>
      <dgm:spPr/>
      <dgm:t>
        <a:bodyPr/>
        <a:lstStyle/>
        <a:p>
          <a:endParaRPr lang="en-US"/>
        </a:p>
      </dgm:t>
    </dgm:pt>
    <dgm:pt modelId="{8B9D0B86-4FA0-437D-997F-B286BC43C19D}">
      <dgm:prSet/>
      <dgm:spPr/>
      <dgm:t>
        <a:bodyPr/>
        <a:lstStyle/>
        <a:p>
          <a:r>
            <a:rPr lang="en-US"/>
            <a:t>• eda_minimo(df, objetivo, max_cats): EDA esencial de una sola pasada.</a:t>
          </a:r>
        </a:p>
      </dgm:t>
    </dgm:pt>
    <dgm:pt modelId="{8EB9CB6D-54B0-47E9-97C3-0A763FEE44E6}" type="parTrans" cxnId="{25570755-1886-4970-AA98-C8B535377421}">
      <dgm:prSet/>
      <dgm:spPr/>
      <dgm:t>
        <a:bodyPr/>
        <a:lstStyle/>
        <a:p>
          <a:endParaRPr lang="en-US"/>
        </a:p>
      </dgm:t>
    </dgm:pt>
    <dgm:pt modelId="{670324D1-CE32-490F-970A-92AED528F9E2}" type="sibTrans" cxnId="{25570755-1886-4970-AA98-C8B535377421}">
      <dgm:prSet/>
      <dgm:spPr/>
      <dgm:t>
        <a:bodyPr/>
        <a:lstStyle/>
        <a:p>
          <a:endParaRPr lang="en-US"/>
        </a:p>
      </dgm:t>
    </dgm:pt>
    <dgm:pt modelId="{EF785C3B-0BB5-425C-9268-8A24372DC535}" type="pres">
      <dgm:prSet presAssocID="{F8F8FFAD-BEB1-48D7-B0BD-F9527247334A}" presName="vert0" presStyleCnt="0">
        <dgm:presLayoutVars>
          <dgm:dir/>
          <dgm:animOne val="branch"/>
          <dgm:animLvl val="lvl"/>
        </dgm:presLayoutVars>
      </dgm:prSet>
      <dgm:spPr/>
    </dgm:pt>
    <dgm:pt modelId="{05FBB88D-4412-4832-B06A-114135AEA1C5}" type="pres">
      <dgm:prSet presAssocID="{BDD40474-8231-4512-A558-D9E6FA996939}" presName="thickLine" presStyleLbl="alignNode1" presStyleIdx="0" presStyleCnt="8"/>
      <dgm:spPr/>
    </dgm:pt>
    <dgm:pt modelId="{545F8985-2122-4A66-958B-E99BB46DD14C}" type="pres">
      <dgm:prSet presAssocID="{BDD40474-8231-4512-A558-D9E6FA996939}" presName="horz1" presStyleCnt="0"/>
      <dgm:spPr/>
    </dgm:pt>
    <dgm:pt modelId="{2B95BE74-649D-43C6-913B-CC4312D28B68}" type="pres">
      <dgm:prSet presAssocID="{BDD40474-8231-4512-A558-D9E6FA996939}" presName="tx1" presStyleLbl="revTx" presStyleIdx="0" presStyleCnt="8"/>
      <dgm:spPr/>
    </dgm:pt>
    <dgm:pt modelId="{1B008933-8326-4C92-BA5F-26D6182709A8}" type="pres">
      <dgm:prSet presAssocID="{BDD40474-8231-4512-A558-D9E6FA996939}" presName="vert1" presStyleCnt="0"/>
      <dgm:spPr/>
    </dgm:pt>
    <dgm:pt modelId="{C63A3EF6-E2D8-41FA-999B-5E789F121556}" type="pres">
      <dgm:prSet presAssocID="{9B9E7F11-0C59-40E2-AA0C-FE3100A156C8}" presName="thickLine" presStyleLbl="alignNode1" presStyleIdx="1" presStyleCnt="8"/>
      <dgm:spPr/>
    </dgm:pt>
    <dgm:pt modelId="{37BA696C-26BE-4B14-8D1D-F3A73F924331}" type="pres">
      <dgm:prSet presAssocID="{9B9E7F11-0C59-40E2-AA0C-FE3100A156C8}" presName="horz1" presStyleCnt="0"/>
      <dgm:spPr/>
    </dgm:pt>
    <dgm:pt modelId="{CAF40411-6507-43BC-BE11-958587093095}" type="pres">
      <dgm:prSet presAssocID="{9B9E7F11-0C59-40E2-AA0C-FE3100A156C8}" presName="tx1" presStyleLbl="revTx" presStyleIdx="1" presStyleCnt="8"/>
      <dgm:spPr/>
    </dgm:pt>
    <dgm:pt modelId="{A0EC6D98-E15E-4B52-88EA-3CEC70F1D971}" type="pres">
      <dgm:prSet presAssocID="{9B9E7F11-0C59-40E2-AA0C-FE3100A156C8}" presName="vert1" presStyleCnt="0"/>
      <dgm:spPr/>
    </dgm:pt>
    <dgm:pt modelId="{4E454231-AE61-41CC-A06C-C4F42472CF5D}" type="pres">
      <dgm:prSet presAssocID="{74996A73-87D5-4BA4-B574-69990C6E42BC}" presName="thickLine" presStyleLbl="alignNode1" presStyleIdx="2" presStyleCnt="8"/>
      <dgm:spPr/>
    </dgm:pt>
    <dgm:pt modelId="{8A994A03-95AE-47B2-B37D-93D4B1EEB143}" type="pres">
      <dgm:prSet presAssocID="{74996A73-87D5-4BA4-B574-69990C6E42BC}" presName="horz1" presStyleCnt="0"/>
      <dgm:spPr/>
    </dgm:pt>
    <dgm:pt modelId="{B22E1BFB-D80D-4C2F-9234-5E93F1C9F102}" type="pres">
      <dgm:prSet presAssocID="{74996A73-87D5-4BA4-B574-69990C6E42BC}" presName="tx1" presStyleLbl="revTx" presStyleIdx="2" presStyleCnt="8"/>
      <dgm:spPr/>
    </dgm:pt>
    <dgm:pt modelId="{E2983220-8567-4EAE-B7F9-45FD16CDA976}" type="pres">
      <dgm:prSet presAssocID="{74996A73-87D5-4BA4-B574-69990C6E42BC}" presName="vert1" presStyleCnt="0"/>
      <dgm:spPr/>
    </dgm:pt>
    <dgm:pt modelId="{04BA0C6E-8D20-45CB-9D3B-5AAA8C08F0C2}" type="pres">
      <dgm:prSet presAssocID="{159928AF-446B-40DE-8CE3-BC9DC3567E95}" presName="thickLine" presStyleLbl="alignNode1" presStyleIdx="3" presStyleCnt="8"/>
      <dgm:spPr/>
    </dgm:pt>
    <dgm:pt modelId="{93965E1B-6BDD-4380-9A8B-4085EA7F906E}" type="pres">
      <dgm:prSet presAssocID="{159928AF-446B-40DE-8CE3-BC9DC3567E95}" presName="horz1" presStyleCnt="0"/>
      <dgm:spPr/>
    </dgm:pt>
    <dgm:pt modelId="{5A0B11AF-E103-43BC-9175-A05F628F7BA8}" type="pres">
      <dgm:prSet presAssocID="{159928AF-446B-40DE-8CE3-BC9DC3567E95}" presName="tx1" presStyleLbl="revTx" presStyleIdx="3" presStyleCnt="8"/>
      <dgm:spPr/>
    </dgm:pt>
    <dgm:pt modelId="{9E3209CE-E219-4D1B-8397-22A994E9B353}" type="pres">
      <dgm:prSet presAssocID="{159928AF-446B-40DE-8CE3-BC9DC3567E95}" presName="vert1" presStyleCnt="0"/>
      <dgm:spPr/>
    </dgm:pt>
    <dgm:pt modelId="{9680B5A1-B836-480C-92F4-494B3A0BF3DC}" type="pres">
      <dgm:prSet presAssocID="{C9BF86F9-81D4-4898-974A-A14A7024492D}" presName="thickLine" presStyleLbl="alignNode1" presStyleIdx="4" presStyleCnt="8"/>
      <dgm:spPr/>
    </dgm:pt>
    <dgm:pt modelId="{448EA2A7-EF0C-4285-989C-5AE1C10CCFE9}" type="pres">
      <dgm:prSet presAssocID="{C9BF86F9-81D4-4898-974A-A14A7024492D}" presName="horz1" presStyleCnt="0"/>
      <dgm:spPr/>
    </dgm:pt>
    <dgm:pt modelId="{B92A7FA7-84C8-4CCC-9741-539ADC08ED91}" type="pres">
      <dgm:prSet presAssocID="{C9BF86F9-81D4-4898-974A-A14A7024492D}" presName="tx1" presStyleLbl="revTx" presStyleIdx="4" presStyleCnt="8"/>
      <dgm:spPr/>
    </dgm:pt>
    <dgm:pt modelId="{6D193001-9016-4F5E-86CB-A62F6FF9481E}" type="pres">
      <dgm:prSet presAssocID="{C9BF86F9-81D4-4898-974A-A14A7024492D}" presName="vert1" presStyleCnt="0"/>
      <dgm:spPr/>
    </dgm:pt>
    <dgm:pt modelId="{2F1C9721-8975-4919-92F8-BAC51ED33993}" type="pres">
      <dgm:prSet presAssocID="{60CEC910-90F7-4288-B5AD-74E6B591A599}" presName="thickLine" presStyleLbl="alignNode1" presStyleIdx="5" presStyleCnt="8"/>
      <dgm:spPr/>
    </dgm:pt>
    <dgm:pt modelId="{C4525027-01A6-422C-8622-B7B2FCD3D9D0}" type="pres">
      <dgm:prSet presAssocID="{60CEC910-90F7-4288-B5AD-74E6B591A599}" presName="horz1" presStyleCnt="0"/>
      <dgm:spPr/>
    </dgm:pt>
    <dgm:pt modelId="{DD6B708B-21B9-4502-A11F-4366D035A945}" type="pres">
      <dgm:prSet presAssocID="{60CEC910-90F7-4288-B5AD-74E6B591A599}" presName="tx1" presStyleLbl="revTx" presStyleIdx="5" presStyleCnt="8"/>
      <dgm:spPr/>
    </dgm:pt>
    <dgm:pt modelId="{2F65BA69-FC27-4BFB-98B7-83D6E19FDC4B}" type="pres">
      <dgm:prSet presAssocID="{60CEC910-90F7-4288-B5AD-74E6B591A599}" presName="vert1" presStyleCnt="0"/>
      <dgm:spPr/>
    </dgm:pt>
    <dgm:pt modelId="{F88C0022-A8B8-42EA-B2DD-C2CDA0D45CEF}" type="pres">
      <dgm:prSet presAssocID="{5F48CFF2-1B8E-4F0E-AB58-21A3D6D460DB}" presName="thickLine" presStyleLbl="alignNode1" presStyleIdx="6" presStyleCnt="8"/>
      <dgm:spPr/>
    </dgm:pt>
    <dgm:pt modelId="{FCA2F147-2998-41A1-9555-E6D9AC960D0C}" type="pres">
      <dgm:prSet presAssocID="{5F48CFF2-1B8E-4F0E-AB58-21A3D6D460DB}" presName="horz1" presStyleCnt="0"/>
      <dgm:spPr/>
    </dgm:pt>
    <dgm:pt modelId="{9579DA3D-9D56-4F8C-9870-E7FD1AC50295}" type="pres">
      <dgm:prSet presAssocID="{5F48CFF2-1B8E-4F0E-AB58-21A3D6D460DB}" presName="tx1" presStyleLbl="revTx" presStyleIdx="6" presStyleCnt="8"/>
      <dgm:spPr/>
    </dgm:pt>
    <dgm:pt modelId="{EB84F93C-76ED-42D6-80BB-DEBDE5A8EF3F}" type="pres">
      <dgm:prSet presAssocID="{5F48CFF2-1B8E-4F0E-AB58-21A3D6D460DB}" presName="vert1" presStyleCnt="0"/>
      <dgm:spPr/>
    </dgm:pt>
    <dgm:pt modelId="{F1FCE27B-1773-406C-B1B1-AF5BA3C39F60}" type="pres">
      <dgm:prSet presAssocID="{8B9D0B86-4FA0-437D-997F-B286BC43C19D}" presName="thickLine" presStyleLbl="alignNode1" presStyleIdx="7" presStyleCnt="8"/>
      <dgm:spPr/>
    </dgm:pt>
    <dgm:pt modelId="{5680F56F-6297-4237-8E45-20277121A3E7}" type="pres">
      <dgm:prSet presAssocID="{8B9D0B86-4FA0-437D-997F-B286BC43C19D}" presName="horz1" presStyleCnt="0"/>
      <dgm:spPr/>
    </dgm:pt>
    <dgm:pt modelId="{ABFA4202-58DE-407B-BBAB-935A7476CB77}" type="pres">
      <dgm:prSet presAssocID="{8B9D0B86-4FA0-437D-997F-B286BC43C19D}" presName="tx1" presStyleLbl="revTx" presStyleIdx="7" presStyleCnt="8"/>
      <dgm:spPr/>
    </dgm:pt>
    <dgm:pt modelId="{3FD3C143-7AD1-40CD-AEBF-F36EAC6954D9}" type="pres">
      <dgm:prSet presAssocID="{8B9D0B86-4FA0-437D-997F-B286BC43C19D}" presName="vert1" presStyleCnt="0"/>
      <dgm:spPr/>
    </dgm:pt>
  </dgm:ptLst>
  <dgm:cxnLst>
    <dgm:cxn modelId="{B0798C28-A49B-4B86-81DD-D9A80CCAD758}" srcId="{F8F8FFAD-BEB1-48D7-B0BD-F9527247334A}" destId="{9B9E7F11-0C59-40E2-AA0C-FE3100A156C8}" srcOrd="1" destOrd="0" parTransId="{267C6F53-32EB-4300-9092-A058BBFF93AD}" sibTransId="{2D295B36-D2D4-49DA-B001-ACED79AE0926}"/>
    <dgm:cxn modelId="{03B0352D-1412-4023-AA7F-882DD464F0E2}" type="presOf" srcId="{BDD40474-8231-4512-A558-D9E6FA996939}" destId="{2B95BE74-649D-43C6-913B-CC4312D28B68}" srcOrd="0" destOrd="0" presId="urn:microsoft.com/office/officeart/2008/layout/LinedList"/>
    <dgm:cxn modelId="{0D844566-ED67-47BE-A0E2-B8E91B3FE4D9}" type="presOf" srcId="{5F48CFF2-1B8E-4F0E-AB58-21A3D6D460DB}" destId="{9579DA3D-9D56-4F8C-9870-E7FD1AC50295}" srcOrd="0" destOrd="0" presId="urn:microsoft.com/office/officeart/2008/layout/LinedList"/>
    <dgm:cxn modelId="{8238576A-76DA-46A4-B9F9-35B28EAEA619}" type="presOf" srcId="{8B9D0B86-4FA0-437D-997F-B286BC43C19D}" destId="{ABFA4202-58DE-407B-BBAB-935A7476CB77}" srcOrd="0" destOrd="0" presId="urn:microsoft.com/office/officeart/2008/layout/LinedList"/>
    <dgm:cxn modelId="{25570755-1886-4970-AA98-C8B535377421}" srcId="{F8F8FFAD-BEB1-48D7-B0BD-F9527247334A}" destId="{8B9D0B86-4FA0-437D-997F-B286BC43C19D}" srcOrd="7" destOrd="0" parTransId="{8EB9CB6D-54B0-47E9-97C3-0A763FEE44E6}" sibTransId="{670324D1-CE32-490F-970A-92AED528F9E2}"/>
    <dgm:cxn modelId="{498E9D7A-96FE-4ABA-B69E-03CEFCB488C6}" srcId="{F8F8FFAD-BEB1-48D7-B0BD-F9527247334A}" destId="{74996A73-87D5-4BA4-B574-69990C6E42BC}" srcOrd="2" destOrd="0" parTransId="{1FABB1CE-BF32-4F14-BF8C-65F205BB6D4B}" sibTransId="{69D6AE9A-5A80-433F-A3B6-60D7BACCECEF}"/>
    <dgm:cxn modelId="{FD7E847E-FFDF-4C45-A0E3-644A2388E427}" type="presOf" srcId="{74996A73-87D5-4BA4-B574-69990C6E42BC}" destId="{B22E1BFB-D80D-4C2F-9234-5E93F1C9F102}" srcOrd="0" destOrd="0" presId="urn:microsoft.com/office/officeart/2008/layout/LinedList"/>
    <dgm:cxn modelId="{A265A27E-C332-43EE-B49F-21151FBD3412}" type="presOf" srcId="{F8F8FFAD-BEB1-48D7-B0BD-F9527247334A}" destId="{EF785C3B-0BB5-425C-9268-8A24372DC535}" srcOrd="0" destOrd="0" presId="urn:microsoft.com/office/officeart/2008/layout/LinedList"/>
    <dgm:cxn modelId="{4D8A8EA5-FF06-4D71-8D15-331E3B130BAE}" srcId="{F8F8FFAD-BEB1-48D7-B0BD-F9527247334A}" destId="{60CEC910-90F7-4288-B5AD-74E6B591A599}" srcOrd="5" destOrd="0" parTransId="{9D1C51FB-2166-430A-BDF7-9DB5C535C89D}" sibTransId="{0D042D36-1A31-4D49-ADFA-A66783566D40}"/>
    <dgm:cxn modelId="{65331DAA-8C4E-4D01-89FC-8D462CCDF443}" srcId="{F8F8FFAD-BEB1-48D7-B0BD-F9527247334A}" destId="{5F48CFF2-1B8E-4F0E-AB58-21A3D6D460DB}" srcOrd="6" destOrd="0" parTransId="{59C682E6-3671-42A4-B9E2-EB6B8E1A0461}" sibTransId="{B9974641-0C44-4798-B2AC-40DAA5AE9F66}"/>
    <dgm:cxn modelId="{2BD415B3-CFEA-4F11-B74F-64DFE18DC920}" type="presOf" srcId="{159928AF-446B-40DE-8CE3-BC9DC3567E95}" destId="{5A0B11AF-E103-43BC-9175-A05F628F7BA8}" srcOrd="0" destOrd="0" presId="urn:microsoft.com/office/officeart/2008/layout/LinedList"/>
    <dgm:cxn modelId="{B4DB04B7-E0CF-49F6-AE4F-90B9418FF0A4}" type="presOf" srcId="{C9BF86F9-81D4-4898-974A-A14A7024492D}" destId="{B92A7FA7-84C8-4CCC-9741-539ADC08ED91}" srcOrd="0" destOrd="0" presId="urn:microsoft.com/office/officeart/2008/layout/LinedList"/>
    <dgm:cxn modelId="{92AB40C0-1A59-4E99-B23A-B53A218AB1F7}" type="presOf" srcId="{9B9E7F11-0C59-40E2-AA0C-FE3100A156C8}" destId="{CAF40411-6507-43BC-BE11-958587093095}" srcOrd="0" destOrd="0" presId="urn:microsoft.com/office/officeart/2008/layout/LinedList"/>
    <dgm:cxn modelId="{EE8319C3-ACDF-4C06-A2B4-B2BFFD0B3986}" srcId="{F8F8FFAD-BEB1-48D7-B0BD-F9527247334A}" destId="{C9BF86F9-81D4-4898-974A-A14A7024492D}" srcOrd="4" destOrd="0" parTransId="{99D6EE2A-4F22-4087-B865-0689E4B97151}" sibTransId="{C4FD865F-005F-4B6A-89F1-CCA7EEB2A0B3}"/>
    <dgm:cxn modelId="{9F5708D6-B51E-4CFD-B5AA-8ED3624F435F}" srcId="{F8F8FFAD-BEB1-48D7-B0BD-F9527247334A}" destId="{159928AF-446B-40DE-8CE3-BC9DC3567E95}" srcOrd="3" destOrd="0" parTransId="{A5FF31F7-3574-4BC9-9BEA-E719EDBFD895}" sibTransId="{9A0E050E-FC78-4F2A-888F-564BBC0C7B22}"/>
    <dgm:cxn modelId="{0ACA15F0-95D2-46D2-B564-219D08B561F4}" srcId="{F8F8FFAD-BEB1-48D7-B0BD-F9527247334A}" destId="{BDD40474-8231-4512-A558-D9E6FA996939}" srcOrd="0" destOrd="0" parTransId="{3264DCC2-B486-4D88-B46F-D47716B09D82}" sibTransId="{CA8BB874-2285-448E-B7EE-9468F16D410E}"/>
    <dgm:cxn modelId="{AAF71DFA-6ABD-4583-8B8E-0FAAA2198B33}" type="presOf" srcId="{60CEC910-90F7-4288-B5AD-74E6B591A599}" destId="{DD6B708B-21B9-4502-A11F-4366D035A945}" srcOrd="0" destOrd="0" presId="urn:microsoft.com/office/officeart/2008/layout/LinedList"/>
    <dgm:cxn modelId="{F5B3F450-DAAB-4BF8-A6D4-3B2209C52ED7}" type="presParOf" srcId="{EF785C3B-0BB5-425C-9268-8A24372DC535}" destId="{05FBB88D-4412-4832-B06A-114135AEA1C5}" srcOrd="0" destOrd="0" presId="urn:microsoft.com/office/officeart/2008/layout/LinedList"/>
    <dgm:cxn modelId="{27CF71EB-9EB4-4904-916B-33F0853B22EC}" type="presParOf" srcId="{EF785C3B-0BB5-425C-9268-8A24372DC535}" destId="{545F8985-2122-4A66-958B-E99BB46DD14C}" srcOrd="1" destOrd="0" presId="urn:microsoft.com/office/officeart/2008/layout/LinedList"/>
    <dgm:cxn modelId="{849971EC-1294-43BC-A59B-534E490792D0}" type="presParOf" srcId="{545F8985-2122-4A66-958B-E99BB46DD14C}" destId="{2B95BE74-649D-43C6-913B-CC4312D28B68}" srcOrd="0" destOrd="0" presId="urn:microsoft.com/office/officeart/2008/layout/LinedList"/>
    <dgm:cxn modelId="{61C52E47-C487-468E-AC59-ECD9B9052F38}" type="presParOf" srcId="{545F8985-2122-4A66-958B-E99BB46DD14C}" destId="{1B008933-8326-4C92-BA5F-26D6182709A8}" srcOrd="1" destOrd="0" presId="urn:microsoft.com/office/officeart/2008/layout/LinedList"/>
    <dgm:cxn modelId="{F8A0AA59-DBA8-4E98-B5BC-F178710B5832}" type="presParOf" srcId="{EF785C3B-0BB5-425C-9268-8A24372DC535}" destId="{C63A3EF6-E2D8-41FA-999B-5E789F121556}" srcOrd="2" destOrd="0" presId="urn:microsoft.com/office/officeart/2008/layout/LinedList"/>
    <dgm:cxn modelId="{21CBCD51-3896-4A2A-8F5B-04F94E12B613}" type="presParOf" srcId="{EF785C3B-0BB5-425C-9268-8A24372DC535}" destId="{37BA696C-26BE-4B14-8D1D-F3A73F924331}" srcOrd="3" destOrd="0" presId="urn:microsoft.com/office/officeart/2008/layout/LinedList"/>
    <dgm:cxn modelId="{BE98330B-E7D2-43C1-8B3F-E45C6CFB673A}" type="presParOf" srcId="{37BA696C-26BE-4B14-8D1D-F3A73F924331}" destId="{CAF40411-6507-43BC-BE11-958587093095}" srcOrd="0" destOrd="0" presId="urn:microsoft.com/office/officeart/2008/layout/LinedList"/>
    <dgm:cxn modelId="{71E3DAC8-AE59-444A-903F-2C3182E11631}" type="presParOf" srcId="{37BA696C-26BE-4B14-8D1D-F3A73F924331}" destId="{A0EC6D98-E15E-4B52-88EA-3CEC70F1D971}" srcOrd="1" destOrd="0" presId="urn:microsoft.com/office/officeart/2008/layout/LinedList"/>
    <dgm:cxn modelId="{D99156F1-099E-42C7-84BF-C7A4A59AB1C2}" type="presParOf" srcId="{EF785C3B-0BB5-425C-9268-8A24372DC535}" destId="{4E454231-AE61-41CC-A06C-C4F42472CF5D}" srcOrd="4" destOrd="0" presId="urn:microsoft.com/office/officeart/2008/layout/LinedList"/>
    <dgm:cxn modelId="{AC5ACB6B-05B2-4113-B245-636CAFB0B8B3}" type="presParOf" srcId="{EF785C3B-0BB5-425C-9268-8A24372DC535}" destId="{8A994A03-95AE-47B2-B37D-93D4B1EEB143}" srcOrd="5" destOrd="0" presId="urn:microsoft.com/office/officeart/2008/layout/LinedList"/>
    <dgm:cxn modelId="{DFE064A2-FB6D-4D8C-85AF-A77051C656ED}" type="presParOf" srcId="{8A994A03-95AE-47B2-B37D-93D4B1EEB143}" destId="{B22E1BFB-D80D-4C2F-9234-5E93F1C9F102}" srcOrd="0" destOrd="0" presId="urn:microsoft.com/office/officeart/2008/layout/LinedList"/>
    <dgm:cxn modelId="{7A4BA2E4-2271-4185-A4D4-31A932F82D3D}" type="presParOf" srcId="{8A994A03-95AE-47B2-B37D-93D4B1EEB143}" destId="{E2983220-8567-4EAE-B7F9-45FD16CDA976}" srcOrd="1" destOrd="0" presId="urn:microsoft.com/office/officeart/2008/layout/LinedList"/>
    <dgm:cxn modelId="{78AD2DE5-B34E-4127-8C3B-50B4C2795F3D}" type="presParOf" srcId="{EF785C3B-0BB5-425C-9268-8A24372DC535}" destId="{04BA0C6E-8D20-45CB-9D3B-5AAA8C08F0C2}" srcOrd="6" destOrd="0" presId="urn:microsoft.com/office/officeart/2008/layout/LinedList"/>
    <dgm:cxn modelId="{FEF95B8F-26D2-4A40-BD2B-779B3B25A956}" type="presParOf" srcId="{EF785C3B-0BB5-425C-9268-8A24372DC535}" destId="{93965E1B-6BDD-4380-9A8B-4085EA7F906E}" srcOrd="7" destOrd="0" presId="urn:microsoft.com/office/officeart/2008/layout/LinedList"/>
    <dgm:cxn modelId="{D57C9470-4912-4CEB-BE35-A184E999F361}" type="presParOf" srcId="{93965E1B-6BDD-4380-9A8B-4085EA7F906E}" destId="{5A0B11AF-E103-43BC-9175-A05F628F7BA8}" srcOrd="0" destOrd="0" presId="urn:microsoft.com/office/officeart/2008/layout/LinedList"/>
    <dgm:cxn modelId="{3D446B98-39E0-4FE5-979F-BD78DB72499A}" type="presParOf" srcId="{93965E1B-6BDD-4380-9A8B-4085EA7F906E}" destId="{9E3209CE-E219-4D1B-8397-22A994E9B353}" srcOrd="1" destOrd="0" presId="urn:microsoft.com/office/officeart/2008/layout/LinedList"/>
    <dgm:cxn modelId="{5AB7F053-CCDB-42E5-9412-5D9CA2E8550E}" type="presParOf" srcId="{EF785C3B-0BB5-425C-9268-8A24372DC535}" destId="{9680B5A1-B836-480C-92F4-494B3A0BF3DC}" srcOrd="8" destOrd="0" presId="urn:microsoft.com/office/officeart/2008/layout/LinedList"/>
    <dgm:cxn modelId="{245E0FC7-6508-4155-B869-FE606568967C}" type="presParOf" srcId="{EF785C3B-0BB5-425C-9268-8A24372DC535}" destId="{448EA2A7-EF0C-4285-989C-5AE1C10CCFE9}" srcOrd="9" destOrd="0" presId="urn:microsoft.com/office/officeart/2008/layout/LinedList"/>
    <dgm:cxn modelId="{8B42BE1E-A844-4DB4-8E7B-F63E3564EC05}" type="presParOf" srcId="{448EA2A7-EF0C-4285-989C-5AE1C10CCFE9}" destId="{B92A7FA7-84C8-4CCC-9741-539ADC08ED91}" srcOrd="0" destOrd="0" presId="urn:microsoft.com/office/officeart/2008/layout/LinedList"/>
    <dgm:cxn modelId="{8F046DB0-C4CD-4F3C-AFFD-EC58EFC9F384}" type="presParOf" srcId="{448EA2A7-EF0C-4285-989C-5AE1C10CCFE9}" destId="{6D193001-9016-4F5E-86CB-A62F6FF9481E}" srcOrd="1" destOrd="0" presId="urn:microsoft.com/office/officeart/2008/layout/LinedList"/>
    <dgm:cxn modelId="{DC935B46-D940-41C0-AFD4-9F136A6BDD99}" type="presParOf" srcId="{EF785C3B-0BB5-425C-9268-8A24372DC535}" destId="{2F1C9721-8975-4919-92F8-BAC51ED33993}" srcOrd="10" destOrd="0" presId="urn:microsoft.com/office/officeart/2008/layout/LinedList"/>
    <dgm:cxn modelId="{17BC23E6-11B0-4389-8B45-2D6F1E423752}" type="presParOf" srcId="{EF785C3B-0BB5-425C-9268-8A24372DC535}" destId="{C4525027-01A6-422C-8622-B7B2FCD3D9D0}" srcOrd="11" destOrd="0" presId="urn:microsoft.com/office/officeart/2008/layout/LinedList"/>
    <dgm:cxn modelId="{73D19D95-7363-4289-8CE5-BDBBE5F280BE}" type="presParOf" srcId="{C4525027-01A6-422C-8622-B7B2FCD3D9D0}" destId="{DD6B708B-21B9-4502-A11F-4366D035A945}" srcOrd="0" destOrd="0" presId="urn:microsoft.com/office/officeart/2008/layout/LinedList"/>
    <dgm:cxn modelId="{A4070DFD-7A9C-44E8-8076-C12E6F45CC7A}" type="presParOf" srcId="{C4525027-01A6-422C-8622-B7B2FCD3D9D0}" destId="{2F65BA69-FC27-4BFB-98B7-83D6E19FDC4B}" srcOrd="1" destOrd="0" presId="urn:microsoft.com/office/officeart/2008/layout/LinedList"/>
    <dgm:cxn modelId="{A3529D34-7C6C-496F-AA2E-A423D59CE137}" type="presParOf" srcId="{EF785C3B-0BB5-425C-9268-8A24372DC535}" destId="{F88C0022-A8B8-42EA-B2DD-C2CDA0D45CEF}" srcOrd="12" destOrd="0" presId="urn:microsoft.com/office/officeart/2008/layout/LinedList"/>
    <dgm:cxn modelId="{3EACC3DC-E0BE-445B-A5E9-6E1F8C318B68}" type="presParOf" srcId="{EF785C3B-0BB5-425C-9268-8A24372DC535}" destId="{FCA2F147-2998-41A1-9555-E6D9AC960D0C}" srcOrd="13" destOrd="0" presId="urn:microsoft.com/office/officeart/2008/layout/LinedList"/>
    <dgm:cxn modelId="{171D7617-A0FE-41D3-A9F9-FF020D7D0C7A}" type="presParOf" srcId="{FCA2F147-2998-41A1-9555-E6D9AC960D0C}" destId="{9579DA3D-9D56-4F8C-9870-E7FD1AC50295}" srcOrd="0" destOrd="0" presId="urn:microsoft.com/office/officeart/2008/layout/LinedList"/>
    <dgm:cxn modelId="{20C45F66-BDEF-4C6C-B3CA-8B671299BE84}" type="presParOf" srcId="{FCA2F147-2998-41A1-9555-E6D9AC960D0C}" destId="{EB84F93C-76ED-42D6-80BB-DEBDE5A8EF3F}" srcOrd="1" destOrd="0" presId="urn:microsoft.com/office/officeart/2008/layout/LinedList"/>
    <dgm:cxn modelId="{0A315F85-9113-4454-8BF6-3A23E0AC760F}" type="presParOf" srcId="{EF785C3B-0BB5-425C-9268-8A24372DC535}" destId="{F1FCE27B-1773-406C-B1B1-AF5BA3C39F60}" srcOrd="14" destOrd="0" presId="urn:microsoft.com/office/officeart/2008/layout/LinedList"/>
    <dgm:cxn modelId="{3F274DCE-78D8-453F-90BA-E42F732CDDDF}" type="presParOf" srcId="{EF785C3B-0BB5-425C-9268-8A24372DC535}" destId="{5680F56F-6297-4237-8E45-20277121A3E7}" srcOrd="15" destOrd="0" presId="urn:microsoft.com/office/officeart/2008/layout/LinedList"/>
    <dgm:cxn modelId="{BF996ABF-13D4-4E7F-91C0-296184467A10}" type="presParOf" srcId="{5680F56F-6297-4237-8E45-20277121A3E7}" destId="{ABFA4202-58DE-407B-BBAB-935A7476CB77}" srcOrd="0" destOrd="0" presId="urn:microsoft.com/office/officeart/2008/layout/LinedList"/>
    <dgm:cxn modelId="{492801DB-9D0D-4F03-81FB-AA1680E7FD86}" type="presParOf" srcId="{5680F56F-6297-4237-8E45-20277121A3E7}" destId="{3FD3C143-7AD1-40CD-AEBF-F36EAC6954D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BB88D-4412-4832-B06A-114135AEA1C5}">
      <dsp:nvSpPr>
        <dsp:cNvPr id="0" name=""/>
        <dsp:cNvSpPr/>
      </dsp:nvSpPr>
      <dsp:spPr>
        <a:xfrm>
          <a:off x="0" y="0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95BE74-649D-43C6-913B-CC4312D28B68}">
      <dsp:nvSpPr>
        <dsp:cNvPr id="0" name=""/>
        <dsp:cNvSpPr/>
      </dsp:nvSpPr>
      <dsp:spPr>
        <a:xfrm>
          <a:off x="0" y="0"/>
          <a:ext cx="3993357" cy="489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pandas (pd): manejo de datos tabulares en DataFrame (read_csv, head, dtypes, isna, describe, value_counts, select_dtypes, nunique).</a:t>
          </a:r>
        </a:p>
      </dsp:txBody>
      <dsp:txXfrm>
        <a:off x="0" y="0"/>
        <a:ext cx="3993357" cy="489942"/>
      </dsp:txXfrm>
    </dsp:sp>
    <dsp:sp modelId="{C63A3EF6-E2D8-41FA-999B-5E789F121556}">
      <dsp:nvSpPr>
        <dsp:cNvPr id="0" name=""/>
        <dsp:cNvSpPr/>
      </dsp:nvSpPr>
      <dsp:spPr>
        <a:xfrm>
          <a:off x="0" y="489942"/>
          <a:ext cx="399335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F40411-6507-43BC-BE11-958587093095}">
      <dsp:nvSpPr>
        <dsp:cNvPr id="0" name=""/>
        <dsp:cNvSpPr/>
      </dsp:nvSpPr>
      <dsp:spPr>
        <a:xfrm>
          <a:off x="0" y="489942"/>
          <a:ext cx="3993357" cy="489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pathlib.Path: manejo robusto de rutas de archivo (existe/no existe).</a:t>
          </a:r>
        </a:p>
      </dsp:txBody>
      <dsp:txXfrm>
        <a:off x="0" y="489942"/>
        <a:ext cx="3993357" cy="489942"/>
      </dsp:txXfrm>
    </dsp:sp>
    <dsp:sp modelId="{4E454231-AE61-41CC-A06C-C4F42472CF5D}">
      <dsp:nvSpPr>
        <dsp:cNvPr id="0" name=""/>
        <dsp:cNvSpPr/>
      </dsp:nvSpPr>
      <dsp:spPr>
        <a:xfrm>
          <a:off x="0" y="979884"/>
          <a:ext cx="399335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2E1BFB-D80D-4C2F-9234-5E93F1C9F102}">
      <dsp:nvSpPr>
        <dsp:cNvPr id="0" name=""/>
        <dsp:cNvSpPr/>
      </dsp:nvSpPr>
      <dsp:spPr>
        <a:xfrm>
          <a:off x="0" y="979884"/>
          <a:ext cx="3993357" cy="489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numpy (np): identifica columnas numéricas y soporta operaciones numéricas.</a:t>
          </a:r>
        </a:p>
      </dsp:txBody>
      <dsp:txXfrm>
        <a:off x="0" y="979884"/>
        <a:ext cx="3993357" cy="489942"/>
      </dsp:txXfrm>
    </dsp:sp>
    <dsp:sp modelId="{04BA0C6E-8D20-45CB-9D3B-5AAA8C08F0C2}">
      <dsp:nvSpPr>
        <dsp:cNvPr id="0" name=""/>
        <dsp:cNvSpPr/>
      </dsp:nvSpPr>
      <dsp:spPr>
        <a:xfrm>
          <a:off x="0" y="1469826"/>
          <a:ext cx="399335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0B11AF-E103-43BC-9175-A05F628F7BA8}">
      <dsp:nvSpPr>
        <dsp:cNvPr id="0" name=""/>
        <dsp:cNvSpPr/>
      </dsp:nvSpPr>
      <dsp:spPr>
        <a:xfrm>
          <a:off x="0" y="1469826"/>
          <a:ext cx="3993357" cy="489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matplotlib.pyplot (plt): gráficos rápidos (barras, histogramas, boxplots).</a:t>
          </a:r>
        </a:p>
      </dsp:txBody>
      <dsp:txXfrm>
        <a:off x="0" y="1469826"/>
        <a:ext cx="3993357" cy="489942"/>
      </dsp:txXfrm>
    </dsp:sp>
    <dsp:sp modelId="{9680B5A1-B836-480C-92F4-494B3A0BF3DC}">
      <dsp:nvSpPr>
        <dsp:cNvPr id="0" name=""/>
        <dsp:cNvSpPr/>
      </dsp:nvSpPr>
      <dsp:spPr>
        <a:xfrm>
          <a:off x="0" y="1959769"/>
          <a:ext cx="399335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2A7FA7-84C8-4CCC-9741-539ADC08ED91}">
      <dsp:nvSpPr>
        <dsp:cNvPr id="0" name=""/>
        <dsp:cNvSpPr/>
      </dsp:nvSpPr>
      <dsp:spPr>
        <a:xfrm>
          <a:off x="0" y="1959768"/>
          <a:ext cx="3993357" cy="489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Funciones propias:</a:t>
          </a:r>
        </a:p>
      </dsp:txBody>
      <dsp:txXfrm>
        <a:off x="0" y="1959768"/>
        <a:ext cx="3993357" cy="489942"/>
      </dsp:txXfrm>
    </dsp:sp>
    <dsp:sp modelId="{2F1C9721-8975-4919-92F8-BAC51ED33993}">
      <dsp:nvSpPr>
        <dsp:cNvPr id="0" name=""/>
        <dsp:cNvSpPr/>
      </dsp:nvSpPr>
      <dsp:spPr>
        <a:xfrm>
          <a:off x="0" y="2449711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6B708B-21B9-4502-A11F-4366D035A945}">
      <dsp:nvSpPr>
        <dsp:cNvPr id="0" name=""/>
        <dsp:cNvSpPr/>
      </dsp:nvSpPr>
      <dsp:spPr>
        <a:xfrm>
          <a:off x="0" y="2449711"/>
          <a:ext cx="3993357" cy="489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cargar_csv(...): intenta leer un CSV con diferentes encodings y valida existencia.</a:t>
          </a:r>
        </a:p>
      </dsp:txBody>
      <dsp:txXfrm>
        <a:off x="0" y="2449711"/>
        <a:ext cx="3993357" cy="489942"/>
      </dsp:txXfrm>
    </dsp:sp>
    <dsp:sp modelId="{F88C0022-A8B8-42EA-B2DD-C2CDA0D45CEF}">
      <dsp:nvSpPr>
        <dsp:cNvPr id="0" name=""/>
        <dsp:cNvSpPr/>
      </dsp:nvSpPr>
      <dsp:spPr>
        <a:xfrm>
          <a:off x="0" y="2939653"/>
          <a:ext cx="399335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79DA3D-9D56-4F8C-9870-E7FD1AC50295}">
      <dsp:nvSpPr>
        <dsp:cNvPr id="0" name=""/>
        <dsp:cNvSpPr/>
      </dsp:nvSpPr>
      <dsp:spPr>
        <a:xfrm>
          <a:off x="0" y="2939653"/>
          <a:ext cx="3993357" cy="489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resumen_columnas(df): tabla de calidad (tipo, faltantes, % faltantes, cardinalidad).</a:t>
          </a:r>
        </a:p>
      </dsp:txBody>
      <dsp:txXfrm>
        <a:off x="0" y="2939653"/>
        <a:ext cx="3993357" cy="489942"/>
      </dsp:txXfrm>
    </dsp:sp>
    <dsp:sp modelId="{F1FCE27B-1773-406C-B1B1-AF5BA3C39F60}">
      <dsp:nvSpPr>
        <dsp:cNvPr id="0" name=""/>
        <dsp:cNvSpPr/>
      </dsp:nvSpPr>
      <dsp:spPr>
        <a:xfrm>
          <a:off x="0" y="3429595"/>
          <a:ext cx="399335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FA4202-58DE-407B-BBAB-935A7476CB77}">
      <dsp:nvSpPr>
        <dsp:cNvPr id="0" name=""/>
        <dsp:cNvSpPr/>
      </dsp:nvSpPr>
      <dsp:spPr>
        <a:xfrm>
          <a:off x="0" y="3429595"/>
          <a:ext cx="3993357" cy="489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eda_minimo(df, objetivo, max_cats): EDA esencial de una sola pasada.</a:t>
          </a:r>
        </a:p>
      </dsp:txBody>
      <dsp:txXfrm>
        <a:off x="0" y="3429595"/>
        <a:ext cx="3993357" cy="4899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2996" y="4267832"/>
            <a:ext cx="3604497" cy="1297115"/>
          </a:xfrm>
        </p:spPr>
        <p:txBody>
          <a:bodyPr anchor="t">
            <a:normAutofit fontScale="90000"/>
          </a:bodyPr>
          <a:lstStyle/>
          <a:p>
            <a:pPr algn="l">
              <a:lnSpc>
                <a:spcPct val="90000"/>
              </a:lnSpc>
              <a:defRPr sz="4000"/>
            </a:pPr>
            <a:r>
              <a:rPr lang="es-MX" sz="2200" dirty="0">
                <a:solidFill>
                  <a:schemeClr val="tx2"/>
                </a:solidFill>
              </a:rPr>
              <a:t>Carga y Análisis Exploratorio de Datos (EDA)</a:t>
            </a:r>
            <a:br>
              <a:rPr lang="es-MX" sz="2200" dirty="0">
                <a:solidFill>
                  <a:schemeClr val="tx2"/>
                </a:solidFill>
              </a:rPr>
            </a:br>
            <a:br>
              <a:rPr lang="es-MX" sz="2200" dirty="0">
                <a:solidFill>
                  <a:schemeClr val="tx2"/>
                </a:solidFill>
              </a:rPr>
            </a:br>
            <a:endParaRPr lang="es-MX" sz="2200" dirty="0">
              <a:solidFill>
                <a:schemeClr val="tx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3224" y="3428999"/>
            <a:ext cx="3604268" cy="838831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  <a:defRPr sz="2000"/>
            </a:pPr>
            <a:r>
              <a:rPr lang="es-MX" sz="1400" dirty="0">
                <a:solidFill>
                  <a:schemeClr val="tx2"/>
                </a:solidFill>
              </a:rPr>
              <a:t>Objetivo: cargar CSV con Pandas, examinar tipos, faltantes, estadísticos básicos y distribución del objetivo con gráficos simples.</a:t>
            </a:r>
          </a:p>
        </p:txBody>
      </p:sp>
      <p:pic>
        <p:nvPicPr>
          <p:cNvPr id="7" name="Graphic 6" descr="Indicador">
            <a:extLst>
              <a:ext uri="{FF2B5EF4-FFF2-40B4-BE49-F238E27FC236}">
                <a16:creationId xmlns:a16="http://schemas.microsoft.com/office/drawing/2014/main" id="{FF324244-CB41-5200-84B1-B260CAA8A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7FFA0D1C-F511-1948-ECF7-583ADC66500C}"/>
              </a:ext>
            </a:extLst>
          </p:cNvPr>
          <p:cNvSpPr txBox="1"/>
          <p:nvPr/>
        </p:nvSpPr>
        <p:spPr>
          <a:xfrm>
            <a:off x="2389931" y="5308350"/>
            <a:ext cx="457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Construyendo cimientos sólidos para tu primer modelo con datos </a:t>
            </a:r>
            <a:r>
              <a:rPr lang="es-CL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tabularesPrograma</a:t>
            </a:r>
            <a:r>
              <a:rPr lang="es-CL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 Pipeline Tabular + MLP (</a:t>
            </a:r>
            <a:r>
              <a:rPr lang="es-CL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Keras</a:t>
            </a:r>
            <a:r>
              <a:rPr lang="es-CL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2C0FA4-D4AB-AFE6-32ED-58EF7C9A8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MX" dirty="0"/>
              <a:t>¿Por qué empezar por EDA?</a:t>
            </a:r>
            <a:endParaRPr lang="es-CL" dirty="0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FCF2BA-EB3A-D1BB-A33B-E2BEEA0C3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s-MX" dirty="0">
                <a:latin typeface="+mj-lt"/>
                <a:ea typeface="+mj-ea"/>
                <a:cs typeface="+mj-cs"/>
              </a:rPr>
              <a:t>Decisiones mejores, antes de modelar: EDA revela calidad, estructura y riesgos de los </a:t>
            </a:r>
            <a:r>
              <a:rPr lang="es-MX" dirty="0" err="1">
                <a:latin typeface="+mj-lt"/>
                <a:ea typeface="+mj-ea"/>
                <a:cs typeface="+mj-cs"/>
              </a:rPr>
              <a:t>datos.Previene</a:t>
            </a:r>
            <a:r>
              <a:rPr lang="es-MX" dirty="0">
                <a:latin typeface="+mj-lt"/>
                <a:ea typeface="+mj-ea"/>
                <a:cs typeface="+mj-cs"/>
              </a:rPr>
              <a:t> errores costosos: evita fuga de información, métricas engañosas y modelos </a:t>
            </a:r>
            <a:r>
              <a:rPr lang="es-MX" dirty="0" err="1">
                <a:latin typeface="+mj-lt"/>
                <a:ea typeface="+mj-ea"/>
                <a:cs typeface="+mj-cs"/>
              </a:rPr>
              <a:t>frágiles.Ahorra</a:t>
            </a:r>
            <a:r>
              <a:rPr lang="es-MX" dirty="0">
                <a:latin typeface="+mj-lt"/>
                <a:ea typeface="+mj-ea"/>
                <a:cs typeface="+mj-cs"/>
              </a:rPr>
              <a:t> tiempo: un buen EDA orienta el preprocesamiento y la elección de arquitectura/métrica.</a:t>
            </a:r>
            <a:endParaRPr lang="es-CL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64918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AEB64F5-1911-8F70-E6E3-23B163519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CL" dirty="0"/>
              <a:t>Objetivos de aprendizaje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AC7A16-7628-93D9-D8D8-DC09523EF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MX" sz="2500" dirty="0"/>
              <a:t>Al finalizar este módulo podrás:</a:t>
            </a:r>
          </a:p>
          <a:p>
            <a:pPr>
              <a:lnSpc>
                <a:spcPct val="90000"/>
              </a:lnSpc>
            </a:pPr>
            <a:r>
              <a:rPr lang="es-MX" sz="2500" dirty="0"/>
              <a:t>Cargar un CSV con Pandas y validar ruta/</a:t>
            </a:r>
            <a:r>
              <a:rPr lang="es-MX" sz="2500" dirty="0" err="1"/>
              <a:t>encoding</a:t>
            </a:r>
            <a:r>
              <a:rPr lang="es-MX" sz="2500" dirty="0"/>
              <a:t>/separador.</a:t>
            </a:r>
          </a:p>
          <a:p>
            <a:pPr>
              <a:lnSpc>
                <a:spcPct val="90000"/>
              </a:lnSpc>
            </a:pPr>
            <a:r>
              <a:rPr lang="es-MX" sz="2500" dirty="0"/>
              <a:t>Identificar tipos, faltantes, cardinalidad y </a:t>
            </a:r>
            <a:r>
              <a:rPr lang="es-MX" sz="2500" dirty="0" err="1"/>
              <a:t>outliers</a:t>
            </a:r>
            <a:r>
              <a:rPr lang="es-MX" sz="2500" dirty="0"/>
              <a:t> clave.</a:t>
            </a:r>
          </a:p>
          <a:p>
            <a:pPr>
              <a:lnSpc>
                <a:spcPct val="90000"/>
              </a:lnSpc>
            </a:pPr>
            <a:r>
              <a:rPr lang="es-MX" sz="2500" dirty="0"/>
              <a:t>Obtener y interpretar describe() para variables numéricas.</a:t>
            </a:r>
          </a:p>
          <a:p>
            <a:pPr>
              <a:lnSpc>
                <a:spcPct val="90000"/>
              </a:lnSpc>
            </a:pPr>
            <a:r>
              <a:rPr lang="es-MX" sz="2500" dirty="0"/>
              <a:t>Explorar la distribución del objetivo y estimar desbalance.</a:t>
            </a:r>
          </a:p>
          <a:p>
            <a:pPr>
              <a:lnSpc>
                <a:spcPct val="90000"/>
              </a:lnSpc>
            </a:pPr>
            <a:r>
              <a:rPr lang="es-MX" sz="2500" dirty="0"/>
              <a:t>Registrar 3 hallazgos que condicionen preprocesamiento y métricas.</a:t>
            </a:r>
          </a:p>
          <a:p>
            <a:pPr>
              <a:lnSpc>
                <a:spcPct val="90000"/>
              </a:lnSpc>
            </a:pPr>
            <a:endParaRPr lang="es-CL" sz="2500" dirty="0"/>
          </a:p>
        </p:txBody>
      </p:sp>
    </p:spTree>
    <p:extLst>
      <p:ext uri="{BB962C8B-B14F-4D97-AF65-F5344CB8AC3E}">
        <p14:creationId xmlns:p14="http://schemas.microsoft.com/office/powerpoint/2010/main" val="1356873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defRPr sz="3200"/>
            </a:pPr>
            <a:r>
              <a:rPr lang="es-CL" sz="3500"/>
              <a:t>Checklist rápido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rPr lang="es-MX" sz="1700"/>
              <a:t>CSV cargado sin errores (ruta/encoding/sep)</a:t>
            </a:r>
          </a:p>
          <a:p>
            <a:pPr>
              <a:defRPr sz="2000"/>
            </a:pPr>
            <a:r>
              <a:rPr lang="es-MX" sz="1700"/>
              <a:t>Tabla de tipos, faltantes (%) y cardinalidad</a:t>
            </a:r>
          </a:p>
          <a:p>
            <a:pPr>
              <a:defRPr sz="2000"/>
            </a:pPr>
            <a:r>
              <a:rPr lang="es-MX" sz="1700"/>
              <a:t>describe() numérico y (opcional) top-categorías</a:t>
            </a:r>
          </a:p>
          <a:p>
            <a:pPr>
              <a:defRPr sz="2000"/>
            </a:pPr>
            <a:r>
              <a:rPr lang="es-MX" sz="1700"/>
              <a:t>Distribución de la variable objetivo + nota sobre desbalance</a:t>
            </a:r>
          </a:p>
          <a:p>
            <a:pPr>
              <a:defRPr sz="2000"/>
            </a:pPr>
            <a:r>
              <a:rPr lang="es-MX" sz="1700"/>
              <a:t>3 hallazgos que condicionen el modelado (bitácora)</a:t>
            </a:r>
          </a:p>
        </p:txBody>
      </p:sp>
      <p:pic>
        <p:nvPicPr>
          <p:cNvPr id="5" name="Picture 4" descr="Colorful math learning objects">
            <a:extLst>
              <a:ext uri="{FF2B5EF4-FFF2-40B4-BE49-F238E27FC236}">
                <a16:creationId xmlns:a16="http://schemas.microsoft.com/office/drawing/2014/main" id="{C39EF4DA-A5CC-A18F-9926-BCC49823FD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52" r="30298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87CC401-04B3-85B5-668B-6B9C79B12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MX" b="1" dirty="0"/>
              <a:t>pandas (</a:t>
            </a:r>
            <a:r>
              <a:rPr lang="es-MX" b="1" dirty="0" err="1"/>
              <a:t>pd</a:t>
            </a:r>
            <a:r>
              <a:rPr lang="es-MX" b="1" dirty="0"/>
              <a:t>)</a:t>
            </a:r>
            <a:br>
              <a:rPr lang="es-MX" b="1" dirty="0"/>
            </a:br>
            <a:endParaRPr lang="es-CL" dirty="0"/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BE15BD-5CA5-4F53-D5F6-BD1EFEFF4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MX" sz="1100" b="1" dirty="0"/>
              <a:t>pandas (</a:t>
            </a:r>
            <a:r>
              <a:rPr lang="es-MX" sz="1100" b="1" dirty="0" err="1"/>
              <a:t>pd</a:t>
            </a:r>
            <a:r>
              <a:rPr lang="es-MX" sz="1100" b="1" dirty="0"/>
              <a:t>)</a:t>
            </a:r>
          </a:p>
          <a:p>
            <a:pPr>
              <a:lnSpc>
                <a:spcPct val="90000"/>
              </a:lnSpc>
            </a:pPr>
            <a:r>
              <a:rPr lang="es-MX" sz="1100" dirty="0"/>
              <a:t>Pandas es la biblioteca fundamental para el manejo de datos tabulares en Python, proporcionando estructuras como el </a:t>
            </a:r>
            <a:r>
              <a:rPr lang="es-MX" sz="1100" b="1" dirty="0" err="1"/>
              <a:t>DataFrame</a:t>
            </a:r>
            <a:r>
              <a:rPr lang="es-MX" sz="1100" dirty="0"/>
              <a:t> que permite manipular datos fácilmente.</a:t>
            </a:r>
          </a:p>
          <a:p>
            <a:pPr>
              <a:lnSpc>
                <a:spcPct val="90000"/>
              </a:lnSpc>
            </a:pPr>
            <a:r>
              <a:rPr lang="es-MX" sz="1100" b="1" dirty="0" err="1"/>
              <a:t>read_csv</a:t>
            </a:r>
            <a:r>
              <a:rPr lang="es-MX" sz="1100" dirty="0"/>
              <a:t>: Lee un archivo CSV y lo convierte en un </a:t>
            </a:r>
            <a:r>
              <a:rPr lang="es-MX" sz="1100" dirty="0" err="1"/>
              <a:t>DataFrame</a:t>
            </a:r>
            <a:r>
              <a:rPr lang="es-MX" sz="1100" dirty="0"/>
              <a:t>, la estructura tabular principal en pandas.</a:t>
            </a:r>
          </a:p>
          <a:p>
            <a:pPr>
              <a:lnSpc>
                <a:spcPct val="90000"/>
              </a:lnSpc>
            </a:pPr>
            <a:r>
              <a:rPr lang="es-MX" sz="1100" b="1" dirty="0"/>
              <a:t>head()</a:t>
            </a:r>
            <a:r>
              <a:rPr lang="es-MX" sz="1100" dirty="0"/>
              <a:t>: Muestra las primeras filas del </a:t>
            </a:r>
            <a:r>
              <a:rPr lang="es-MX" sz="1100" dirty="0" err="1"/>
              <a:t>DataFrame</a:t>
            </a:r>
            <a:r>
              <a:rPr lang="es-MX" sz="1100" dirty="0"/>
              <a:t> para una vista rápida del contenido.</a:t>
            </a:r>
          </a:p>
          <a:p>
            <a:pPr>
              <a:lnSpc>
                <a:spcPct val="90000"/>
              </a:lnSpc>
            </a:pPr>
            <a:r>
              <a:rPr lang="es-MX" sz="1100" b="1" dirty="0" err="1"/>
              <a:t>dtypes</a:t>
            </a:r>
            <a:r>
              <a:rPr lang="es-MX" sz="1100" dirty="0"/>
              <a:t>: Muestra el tipo de dato de cada columna (numérico, objeto/cadena, booleano, etc.), importante para saber cómo tratarlas.</a:t>
            </a:r>
          </a:p>
          <a:p>
            <a:pPr>
              <a:lnSpc>
                <a:spcPct val="90000"/>
              </a:lnSpc>
            </a:pPr>
            <a:r>
              <a:rPr lang="es-MX" sz="1100" b="1" dirty="0" err="1"/>
              <a:t>isna</a:t>
            </a:r>
            <a:r>
              <a:rPr lang="es-MX" sz="1100" b="1" dirty="0"/>
              <a:t>()</a:t>
            </a:r>
            <a:r>
              <a:rPr lang="es-MX" sz="1100" dirty="0"/>
              <a:t>: Retorna un </a:t>
            </a:r>
            <a:r>
              <a:rPr lang="es-MX" sz="1100" dirty="0" err="1"/>
              <a:t>DataFrame</a:t>
            </a:r>
            <a:r>
              <a:rPr lang="es-MX" sz="1100" dirty="0"/>
              <a:t> booleano indicando dónde hay valores faltantes (</a:t>
            </a:r>
            <a:r>
              <a:rPr lang="es-MX" sz="1100" dirty="0" err="1"/>
              <a:t>NaN</a:t>
            </a:r>
            <a:r>
              <a:rPr lang="es-MX" sz="1100" dirty="0"/>
              <a:t>).</a:t>
            </a:r>
          </a:p>
          <a:p>
            <a:pPr>
              <a:lnSpc>
                <a:spcPct val="90000"/>
              </a:lnSpc>
            </a:pPr>
            <a:r>
              <a:rPr lang="es-MX" sz="1100" b="1" dirty="0"/>
              <a:t>describe()</a:t>
            </a:r>
            <a:r>
              <a:rPr lang="es-MX" sz="1100" dirty="0"/>
              <a:t>: Da un resumen estadístico (media, desviación, percentiles) sobre las columnas numéricas.</a:t>
            </a:r>
          </a:p>
          <a:p>
            <a:pPr>
              <a:lnSpc>
                <a:spcPct val="90000"/>
              </a:lnSpc>
            </a:pPr>
            <a:r>
              <a:rPr lang="es-MX" sz="1100" b="1" dirty="0" err="1"/>
              <a:t>value_counts</a:t>
            </a:r>
            <a:r>
              <a:rPr lang="es-MX" sz="1100" b="1" dirty="0"/>
              <a:t>()</a:t>
            </a:r>
            <a:r>
              <a:rPr lang="es-MX" sz="1100" dirty="0"/>
              <a:t>: Cuenta ocurrencias de cada valor único en una columna, útil para analizar distribuciones y clases.</a:t>
            </a:r>
          </a:p>
          <a:p>
            <a:pPr>
              <a:lnSpc>
                <a:spcPct val="90000"/>
              </a:lnSpc>
            </a:pPr>
            <a:r>
              <a:rPr lang="es-MX" sz="1100" b="1" dirty="0" err="1"/>
              <a:t>select_dtypes</a:t>
            </a:r>
            <a:r>
              <a:rPr lang="es-MX" sz="1100" b="1" dirty="0"/>
              <a:t>()</a:t>
            </a:r>
            <a:r>
              <a:rPr lang="es-MX" sz="1100" dirty="0"/>
              <a:t>: Filtra columnas del </a:t>
            </a:r>
            <a:r>
              <a:rPr lang="es-MX" sz="1100" dirty="0" err="1"/>
              <a:t>DataFrame</a:t>
            </a:r>
            <a:r>
              <a:rPr lang="es-MX" sz="1100" dirty="0"/>
              <a:t> según su tipo (ejemplo: solo numéricas o solo categóricas).</a:t>
            </a:r>
          </a:p>
          <a:p>
            <a:pPr>
              <a:lnSpc>
                <a:spcPct val="90000"/>
              </a:lnSpc>
            </a:pPr>
            <a:r>
              <a:rPr lang="es-MX" sz="1100" b="1" dirty="0" err="1"/>
              <a:t>nunique</a:t>
            </a:r>
            <a:r>
              <a:rPr lang="es-MX" sz="1100" b="1" dirty="0"/>
              <a:t>()</a:t>
            </a:r>
            <a:r>
              <a:rPr lang="es-MX" sz="1100" dirty="0"/>
              <a:t>: Cuenta el número de valores únicos en una columna, usado para medir cardinalidad o diversidad.</a:t>
            </a:r>
          </a:p>
          <a:p>
            <a:pPr>
              <a:lnSpc>
                <a:spcPct val="90000"/>
              </a:lnSpc>
            </a:pPr>
            <a:br>
              <a:rPr lang="es-MX" sz="1100" dirty="0"/>
            </a:br>
            <a:endParaRPr lang="es-MX" sz="1100" dirty="0"/>
          </a:p>
          <a:p>
            <a:pPr>
              <a:lnSpc>
                <a:spcPct val="90000"/>
              </a:lnSpc>
            </a:pPr>
            <a:endParaRPr lang="es-CL" sz="1300" dirty="0"/>
          </a:p>
        </p:txBody>
      </p:sp>
    </p:spTree>
    <p:extLst>
      <p:ext uri="{BB962C8B-B14F-4D97-AF65-F5344CB8AC3E}">
        <p14:creationId xmlns:p14="http://schemas.microsoft.com/office/powerpoint/2010/main" val="2919135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B5BEC2-95A1-4CC8-B82F-4947D68A8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MX" b="1" dirty="0"/>
              <a:t>pandas (</a:t>
            </a:r>
            <a:r>
              <a:rPr lang="es-MX" b="1" dirty="0" err="1"/>
              <a:t>pd</a:t>
            </a:r>
            <a:r>
              <a:rPr lang="es-MX" b="1" dirty="0"/>
              <a:t>)</a:t>
            </a:r>
            <a:br>
              <a:rPr lang="es-MX" b="1" dirty="0"/>
            </a:br>
            <a:endParaRPr lang="es-CL" dirty="0"/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83353A-26C0-C339-0046-43C0071DF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MX" sz="1100" b="1" dirty="0" err="1"/>
              <a:t>pathlib.Path</a:t>
            </a:r>
            <a:endParaRPr lang="es-MX" sz="1100" b="1" dirty="0"/>
          </a:p>
          <a:p>
            <a:pPr>
              <a:lnSpc>
                <a:spcPct val="90000"/>
              </a:lnSpc>
            </a:pPr>
            <a:r>
              <a:rPr lang="es-MX" sz="1100" dirty="0" err="1"/>
              <a:t>pathlib</a:t>
            </a:r>
            <a:r>
              <a:rPr lang="es-MX" sz="1100" dirty="0"/>
              <a:t> es la biblioteca estándar de Python para manejar rutas de archivo de forma robusta y multiplataforma.</a:t>
            </a:r>
          </a:p>
          <a:p>
            <a:pPr>
              <a:lnSpc>
                <a:spcPct val="90000"/>
              </a:lnSpc>
            </a:pPr>
            <a:r>
              <a:rPr lang="es-MX" sz="1100" b="1" dirty="0" err="1"/>
              <a:t>Path.exists</a:t>
            </a:r>
            <a:r>
              <a:rPr lang="es-MX" sz="1100" b="1" dirty="0"/>
              <a:t>()</a:t>
            </a:r>
            <a:r>
              <a:rPr lang="es-MX" sz="1100" dirty="0"/>
              <a:t>: Permite verificar si un archivo o directorio existe en el sistema antes de intentar operaciones que dependan de ese archivo.</a:t>
            </a:r>
          </a:p>
          <a:p>
            <a:pPr>
              <a:lnSpc>
                <a:spcPct val="90000"/>
              </a:lnSpc>
            </a:pPr>
            <a:r>
              <a:rPr lang="es-MX" sz="1100" dirty="0"/>
              <a:t>Facilita manipulación de rutas (unir, obtener nombre, extensión) sin preocuparse por diferencias en separadores de ruta o sistemas operativos.</a:t>
            </a:r>
          </a:p>
          <a:p>
            <a:pPr>
              <a:lnSpc>
                <a:spcPct val="90000"/>
              </a:lnSpc>
            </a:pPr>
            <a:br>
              <a:rPr lang="es-MX" sz="1100" dirty="0"/>
            </a:br>
            <a:endParaRPr lang="es-MX" sz="1100" dirty="0"/>
          </a:p>
          <a:p>
            <a:pPr>
              <a:lnSpc>
                <a:spcPct val="90000"/>
              </a:lnSpc>
            </a:pPr>
            <a:r>
              <a:rPr lang="es-MX" sz="1100" b="1" dirty="0" err="1"/>
              <a:t>numpy</a:t>
            </a:r>
            <a:r>
              <a:rPr lang="es-MX" sz="1100" b="1" dirty="0"/>
              <a:t> (</a:t>
            </a:r>
            <a:r>
              <a:rPr lang="es-MX" sz="1100" b="1" dirty="0" err="1"/>
              <a:t>np</a:t>
            </a:r>
            <a:r>
              <a:rPr lang="es-MX" sz="1100" b="1" dirty="0"/>
              <a:t>)</a:t>
            </a:r>
          </a:p>
          <a:p>
            <a:pPr>
              <a:lnSpc>
                <a:spcPct val="90000"/>
              </a:lnSpc>
            </a:pPr>
            <a:r>
              <a:rPr lang="es-MX" sz="1100" dirty="0" err="1"/>
              <a:t>Numpy</a:t>
            </a:r>
            <a:r>
              <a:rPr lang="es-MX" sz="1100" dirty="0"/>
              <a:t> es la biblioteca para operaciones numéricas eficientes y manejo de arreglos multidimensionales.</a:t>
            </a:r>
          </a:p>
          <a:p>
            <a:pPr>
              <a:lnSpc>
                <a:spcPct val="90000"/>
              </a:lnSpc>
            </a:pPr>
            <a:r>
              <a:rPr lang="es-MX" sz="1100" dirty="0"/>
              <a:t>Se usa para identificar columnas numéricas en un </a:t>
            </a:r>
            <a:r>
              <a:rPr lang="es-MX" sz="1100" dirty="0" err="1"/>
              <a:t>DataFrame</a:t>
            </a:r>
            <a:r>
              <a:rPr lang="es-MX" sz="1100" dirty="0"/>
              <a:t> mediante tipos de dato.</a:t>
            </a:r>
          </a:p>
          <a:p>
            <a:pPr>
              <a:lnSpc>
                <a:spcPct val="90000"/>
              </a:lnSpc>
            </a:pPr>
            <a:r>
              <a:rPr lang="es-MX" sz="1100" dirty="0"/>
              <a:t>Soporta cálculos matemáticos, estadísticas, y procesamiento sobre columnas o </a:t>
            </a:r>
            <a:r>
              <a:rPr lang="es-MX" sz="1100" dirty="0" err="1"/>
              <a:t>arrays</a:t>
            </a:r>
            <a:r>
              <a:rPr lang="es-MX" sz="1100" dirty="0"/>
              <a:t>, que pandas a su vez utiliza internamente.</a:t>
            </a:r>
          </a:p>
          <a:p>
            <a:pPr>
              <a:lnSpc>
                <a:spcPct val="90000"/>
              </a:lnSpc>
            </a:pPr>
            <a:r>
              <a:rPr lang="es-MX" sz="1100" dirty="0"/>
              <a:t>Facilita métodos rápidos y vectorizados para operaciones numéricas sobre columnas de datos.</a:t>
            </a:r>
          </a:p>
          <a:p>
            <a:pPr>
              <a:lnSpc>
                <a:spcPct val="90000"/>
              </a:lnSpc>
            </a:pPr>
            <a:br>
              <a:rPr lang="es-MX" sz="1100" dirty="0"/>
            </a:br>
            <a:endParaRPr lang="es-MX" sz="1100" dirty="0"/>
          </a:p>
          <a:p>
            <a:pPr>
              <a:lnSpc>
                <a:spcPct val="90000"/>
              </a:lnSpc>
            </a:pPr>
            <a:r>
              <a:rPr lang="es-MX" sz="1100" b="1" dirty="0" err="1"/>
              <a:t>matplotlib.pyplot</a:t>
            </a:r>
            <a:r>
              <a:rPr lang="es-MX" sz="1100" b="1" dirty="0"/>
              <a:t> (</a:t>
            </a:r>
            <a:r>
              <a:rPr lang="es-MX" sz="1100" b="1" dirty="0" err="1"/>
              <a:t>plt</a:t>
            </a:r>
            <a:r>
              <a:rPr lang="es-MX" sz="1100" b="1" dirty="0"/>
              <a:t>)</a:t>
            </a:r>
          </a:p>
          <a:p>
            <a:pPr>
              <a:lnSpc>
                <a:spcPct val="90000"/>
              </a:lnSpc>
            </a:pPr>
            <a:r>
              <a:rPr lang="es-MX" sz="1100" dirty="0"/>
              <a:t>Es la biblioteca de visualización estándar en Python para gráficos simples y rápidos.</a:t>
            </a:r>
          </a:p>
          <a:p>
            <a:pPr>
              <a:lnSpc>
                <a:spcPct val="90000"/>
              </a:lnSpc>
            </a:pPr>
            <a:r>
              <a:rPr lang="es-MX" sz="1100" dirty="0"/>
              <a:t>Permite crear visualizaciones básicas como:</a:t>
            </a:r>
          </a:p>
          <a:p>
            <a:pPr lvl="1">
              <a:lnSpc>
                <a:spcPct val="90000"/>
              </a:lnSpc>
            </a:pPr>
            <a:r>
              <a:rPr lang="es-MX" sz="1100" b="1" dirty="0"/>
              <a:t>barras</a:t>
            </a:r>
            <a:r>
              <a:rPr lang="es-MX" sz="1100" dirty="0"/>
              <a:t>: para mostrar conteos o distribuciones de categorías.</a:t>
            </a:r>
          </a:p>
          <a:p>
            <a:pPr lvl="1">
              <a:lnSpc>
                <a:spcPct val="90000"/>
              </a:lnSpc>
            </a:pPr>
            <a:r>
              <a:rPr lang="es-MX" sz="1100" b="1" dirty="0"/>
              <a:t>histogramas</a:t>
            </a:r>
            <a:r>
              <a:rPr lang="es-MX" sz="1100" dirty="0"/>
              <a:t>: analizar la distribución de datos numéricos.</a:t>
            </a:r>
          </a:p>
          <a:p>
            <a:pPr lvl="1">
              <a:lnSpc>
                <a:spcPct val="90000"/>
              </a:lnSpc>
            </a:pPr>
            <a:r>
              <a:rPr lang="es-MX" sz="1100" b="1" dirty="0" err="1"/>
              <a:t>boxplots</a:t>
            </a:r>
            <a:r>
              <a:rPr lang="es-MX" sz="1100" dirty="0"/>
              <a:t>: identificar dispersiones, medianas y valores atípicos.</a:t>
            </a:r>
          </a:p>
          <a:p>
            <a:pPr>
              <a:lnSpc>
                <a:spcPct val="90000"/>
              </a:lnSpc>
            </a:pPr>
            <a:r>
              <a:rPr lang="es-MX" sz="1100" dirty="0"/>
              <a:t>Se usa aquí para explorar gráficamente la variable objetivo u otras columnas de interés.</a:t>
            </a:r>
          </a:p>
          <a:p>
            <a:pPr>
              <a:lnSpc>
                <a:spcPct val="90000"/>
              </a:lnSpc>
            </a:pPr>
            <a:br>
              <a:rPr lang="es-MX" sz="600" dirty="0"/>
            </a:br>
            <a:endParaRPr lang="es-CL" sz="600" dirty="0"/>
          </a:p>
        </p:txBody>
      </p:sp>
    </p:spTree>
    <p:extLst>
      <p:ext uri="{BB962C8B-B14F-4D97-AF65-F5344CB8AC3E}">
        <p14:creationId xmlns:p14="http://schemas.microsoft.com/office/powerpoint/2010/main" val="2755318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22E8AB-5F5C-CC0A-8D55-6FD02D176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MX" b="1" dirty="0"/>
              <a:t>pandas (</a:t>
            </a:r>
            <a:r>
              <a:rPr lang="es-MX" b="1" dirty="0" err="1"/>
              <a:t>pd</a:t>
            </a:r>
            <a:r>
              <a:rPr lang="es-MX" b="1" dirty="0"/>
              <a:t>)</a:t>
            </a:r>
            <a:br>
              <a:rPr lang="es-MX" b="1" dirty="0"/>
            </a:br>
            <a:endParaRPr lang="es-CL"/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DD79B4-7717-D652-C391-148CC9C72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s-MX" sz="1100" dirty="0"/>
          </a:p>
          <a:p>
            <a:pPr>
              <a:lnSpc>
                <a:spcPct val="90000"/>
              </a:lnSpc>
            </a:pPr>
            <a:r>
              <a:rPr lang="es-MX" sz="1100" b="1" dirty="0"/>
              <a:t>Funciones propias</a:t>
            </a:r>
          </a:p>
          <a:p>
            <a:pPr>
              <a:lnSpc>
                <a:spcPct val="90000"/>
              </a:lnSpc>
            </a:pPr>
            <a:r>
              <a:rPr lang="es-MX" sz="1100" dirty="0"/>
              <a:t>Se sugieren estas funciones personalizadas para facilitar tareas comunes y robustas en el flujo de trabajo con datos tabulares.</a:t>
            </a:r>
          </a:p>
          <a:p>
            <a:pPr>
              <a:lnSpc>
                <a:spcPct val="90000"/>
              </a:lnSpc>
            </a:pPr>
            <a:r>
              <a:rPr lang="es-MX" sz="1100" b="1" dirty="0" err="1"/>
              <a:t>cargar_csv</a:t>
            </a:r>
            <a:r>
              <a:rPr lang="es-MX" sz="1100" b="1" dirty="0"/>
              <a:t>(</a:t>
            </a:r>
            <a:r>
              <a:rPr lang="es-MX" sz="1100" b="1" dirty="0" err="1"/>
              <a:t>path</a:t>
            </a:r>
            <a:r>
              <a:rPr lang="es-MX" sz="1100" b="1" dirty="0"/>
              <a:t>: </a:t>
            </a:r>
            <a:r>
              <a:rPr lang="es-MX" sz="1100" b="1" dirty="0" err="1"/>
              <a:t>str</a:t>
            </a:r>
            <a:r>
              <a:rPr lang="es-MX" sz="1100" b="1" dirty="0"/>
              <a:t>) -&gt; </a:t>
            </a:r>
            <a:r>
              <a:rPr lang="es-MX" sz="1100" b="1" dirty="0" err="1"/>
              <a:t>DataFrame</a:t>
            </a:r>
            <a:endParaRPr lang="es-MX" sz="1100" dirty="0"/>
          </a:p>
          <a:p>
            <a:pPr lvl="1">
              <a:lnSpc>
                <a:spcPct val="90000"/>
              </a:lnSpc>
            </a:pPr>
            <a:r>
              <a:rPr lang="es-MX" sz="1100" dirty="0"/>
              <a:t>Intenta cargar un archivo CSV desde </a:t>
            </a:r>
            <a:r>
              <a:rPr lang="es-MX" sz="1100" dirty="0" err="1"/>
              <a:t>path</a:t>
            </a:r>
            <a:r>
              <a:rPr lang="es-MX" sz="1100" dirty="0"/>
              <a:t>.</a:t>
            </a:r>
          </a:p>
          <a:p>
            <a:pPr lvl="1">
              <a:lnSpc>
                <a:spcPct val="90000"/>
              </a:lnSpc>
            </a:pPr>
            <a:r>
              <a:rPr lang="es-MX" sz="1100" dirty="0"/>
              <a:t>Maneja posibles errores de </a:t>
            </a:r>
            <a:r>
              <a:rPr lang="es-MX" sz="1100" dirty="0" err="1"/>
              <a:t>encoding</a:t>
            </a:r>
            <a:r>
              <a:rPr lang="es-MX" sz="1100" dirty="0"/>
              <a:t> probando distintos formatos.</a:t>
            </a:r>
          </a:p>
          <a:p>
            <a:pPr lvl="1">
              <a:lnSpc>
                <a:spcPct val="90000"/>
              </a:lnSpc>
            </a:pPr>
            <a:r>
              <a:rPr lang="es-MX" sz="1100" dirty="0"/>
              <a:t>Verifica si el archivo existe antes de leer, para evitar fallos inesperados.</a:t>
            </a:r>
          </a:p>
          <a:p>
            <a:pPr lvl="1">
              <a:lnSpc>
                <a:spcPct val="90000"/>
              </a:lnSpc>
            </a:pPr>
            <a:r>
              <a:rPr lang="es-MX" sz="1100" dirty="0"/>
              <a:t>Retorna un </a:t>
            </a:r>
            <a:r>
              <a:rPr lang="es-MX" sz="1100" dirty="0" err="1"/>
              <a:t>DataFrame</a:t>
            </a:r>
            <a:r>
              <a:rPr lang="es-MX" sz="1100" dirty="0"/>
              <a:t> si se carga correctamente.</a:t>
            </a:r>
          </a:p>
          <a:p>
            <a:pPr>
              <a:lnSpc>
                <a:spcPct val="90000"/>
              </a:lnSpc>
            </a:pPr>
            <a:r>
              <a:rPr lang="es-MX" sz="1100" b="1" dirty="0" err="1"/>
              <a:t>resumen_columnas</a:t>
            </a:r>
            <a:r>
              <a:rPr lang="es-MX" sz="1100" b="1" dirty="0"/>
              <a:t>(</a:t>
            </a:r>
            <a:r>
              <a:rPr lang="es-MX" sz="1100" b="1" dirty="0" err="1"/>
              <a:t>df</a:t>
            </a:r>
            <a:r>
              <a:rPr lang="es-MX" sz="1100" b="1" dirty="0"/>
              <a:t>: </a:t>
            </a:r>
            <a:r>
              <a:rPr lang="es-MX" sz="1100" b="1" dirty="0" err="1"/>
              <a:t>DataFrame</a:t>
            </a:r>
            <a:r>
              <a:rPr lang="es-MX" sz="1100" b="1" dirty="0"/>
              <a:t>) -&gt; </a:t>
            </a:r>
            <a:r>
              <a:rPr lang="es-MX" sz="1100" b="1" dirty="0" err="1"/>
              <a:t>DataFrame</a:t>
            </a:r>
            <a:endParaRPr lang="es-MX" sz="1100" dirty="0"/>
          </a:p>
          <a:p>
            <a:pPr lvl="1">
              <a:lnSpc>
                <a:spcPct val="90000"/>
              </a:lnSpc>
            </a:pPr>
            <a:r>
              <a:rPr lang="es-MX" sz="1100" dirty="0"/>
              <a:t>Genera una tabla resumen para todas las columnas que incluye:</a:t>
            </a:r>
          </a:p>
          <a:p>
            <a:pPr lvl="2">
              <a:lnSpc>
                <a:spcPct val="90000"/>
              </a:lnSpc>
            </a:pPr>
            <a:r>
              <a:rPr lang="es-MX" sz="1100" dirty="0"/>
              <a:t>Tipo de dato de la columna.</a:t>
            </a:r>
          </a:p>
          <a:p>
            <a:pPr lvl="2">
              <a:lnSpc>
                <a:spcPct val="90000"/>
              </a:lnSpc>
            </a:pPr>
            <a:r>
              <a:rPr lang="es-MX" sz="1100" dirty="0"/>
              <a:t>Número total de valores faltantes.</a:t>
            </a:r>
          </a:p>
          <a:p>
            <a:pPr lvl="2">
              <a:lnSpc>
                <a:spcPct val="90000"/>
              </a:lnSpc>
            </a:pPr>
            <a:r>
              <a:rPr lang="es-MX" sz="1100" dirty="0"/>
              <a:t>Porcentaje de valores faltantes respecto al total.</a:t>
            </a:r>
          </a:p>
          <a:p>
            <a:pPr lvl="2">
              <a:lnSpc>
                <a:spcPct val="90000"/>
              </a:lnSpc>
            </a:pPr>
            <a:r>
              <a:rPr lang="es-MX" sz="1100" dirty="0"/>
              <a:t>Cardinalidad (número de valores únicos).</a:t>
            </a:r>
          </a:p>
          <a:p>
            <a:pPr lvl="1">
              <a:lnSpc>
                <a:spcPct val="90000"/>
              </a:lnSpc>
            </a:pPr>
            <a:r>
              <a:rPr lang="es-MX" sz="1100" dirty="0"/>
              <a:t>Facilita evaluar la calidad general del </a:t>
            </a:r>
            <a:r>
              <a:rPr lang="es-MX" sz="1100" dirty="0" err="1"/>
              <a:t>dataset</a:t>
            </a:r>
            <a:r>
              <a:rPr lang="es-MX" sz="1100" dirty="0"/>
              <a:t> y preparar decisiones de limpieza o imputación.</a:t>
            </a:r>
          </a:p>
          <a:p>
            <a:pPr marL="0" indent="0">
              <a:lnSpc>
                <a:spcPct val="90000"/>
              </a:lnSpc>
              <a:buNone/>
            </a:pPr>
            <a:br>
              <a:rPr lang="es-MX" sz="1100" dirty="0"/>
            </a:br>
            <a:endParaRPr lang="es-MX" sz="1100" dirty="0"/>
          </a:p>
          <a:p>
            <a:pPr>
              <a:lnSpc>
                <a:spcPct val="90000"/>
              </a:lnSpc>
            </a:pPr>
            <a:r>
              <a:rPr lang="es-MX" sz="1100" dirty="0"/>
              <a:t>Estas herramientas y funciones son la base para construir pipelines robustos para análisis y modelado de datos tabulares. Permiten un manejo eficiente y sistemático de la información, asegurando calidad y facilitando la inspección exploratoria previa a modelos.</a:t>
            </a:r>
          </a:p>
          <a:p>
            <a:pPr>
              <a:lnSpc>
                <a:spcPct val="90000"/>
              </a:lnSpc>
            </a:pPr>
            <a:endParaRPr lang="es-CL" sz="700" dirty="0"/>
          </a:p>
        </p:txBody>
      </p:sp>
    </p:spTree>
    <p:extLst>
      <p:ext uri="{BB962C8B-B14F-4D97-AF65-F5344CB8AC3E}">
        <p14:creationId xmlns:p14="http://schemas.microsoft.com/office/powerpoint/2010/main" val="3513274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3200"/>
            </a:pPr>
            <a:r>
              <a:rPr lang="en-US" sz="3100"/>
              <a:t>Caja de herramientas: ¿qué se usa y para qué?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469666-0E83-4CA7-D982-12EFB0986B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250" r="20292" b="-2"/>
          <a:stretch>
            <a:fillRect/>
          </a:stretch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59893852-8D04-2FB3-C81B-346113A02E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5844312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9AD5E5-76C2-6C19-589B-83A5944FA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CL" sz="4100" b="1"/>
              <a:t>Estructura de directorios sugerida</a:t>
            </a:r>
            <a:br>
              <a:rPr lang="es-CL" sz="4100" b="1"/>
            </a:br>
            <a:endParaRPr lang="es-CL" sz="410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DA4E75-8671-AD8C-FC2C-5391F20C5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CL" sz="1000"/>
              <a:t>Modulo_04_pipeline/</a:t>
            </a:r>
          </a:p>
          <a:p>
            <a:pPr>
              <a:lnSpc>
                <a:spcPct val="90000"/>
              </a:lnSpc>
            </a:pPr>
            <a:r>
              <a:rPr lang="es-CL" sz="1000"/>
              <a:t>│</a:t>
            </a:r>
          </a:p>
          <a:p>
            <a:pPr>
              <a:lnSpc>
                <a:spcPct val="90000"/>
              </a:lnSpc>
            </a:pPr>
            <a:r>
              <a:rPr lang="es-CL" sz="1000"/>
              <a:t>├── data/                  # Carpeta para almacenar datos CSV o </a:t>
            </a:r>
            <a:r>
              <a:rPr lang="es-CL" sz="1000" err="1"/>
              <a:t>datasets</a:t>
            </a:r>
            <a:endParaRPr lang="es-CL" sz="1000"/>
          </a:p>
          <a:p>
            <a:pPr>
              <a:lnSpc>
                <a:spcPct val="90000"/>
              </a:lnSpc>
            </a:pPr>
            <a:r>
              <a:rPr lang="es-CL" sz="1000"/>
              <a:t>│   └── datos.csv          # Ejemplo de archivo CSV a analizar</a:t>
            </a:r>
          </a:p>
          <a:p>
            <a:pPr>
              <a:lnSpc>
                <a:spcPct val="90000"/>
              </a:lnSpc>
            </a:pPr>
            <a:r>
              <a:rPr lang="es-CL" sz="1000"/>
              <a:t>│</a:t>
            </a:r>
          </a:p>
          <a:p>
            <a:pPr>
              <a:lnSpc>
                <a:spcPct val="90000"/>
              </a:lnSpc>
            </a:pPr>
            <a:r>
              <a:rPr lang="es-CL" sz="1000"/>
              <a:t>├── </a:t>
            </a:r>
            <a:r>
              <a:rPr lang="es-CL" sz="1000" err="1"/>
              <a:t>src</a:t>
            </a:r>
            <a:r>
              <a:rPr lang="es-CL" sz="1000"/>
              <a:t>/                   # Código fuente Python</a:t>
            </a:r>
          </a:p>
          <a:p>
            <a:pPr>
              <a:lnSpc>
                <a:spcPct val="90000"/>
              </a:lnSpc>
            </a:pPr>
            <a:r>
              <a:rPr lang="es-CL" sz="1000"/>
              <a:t>│   ├── cargar_csv.py      # Función robusta para carga segura de </a:t>
            </a:r>
            <a:r>
              <a:rPr lang="es-CL" sz="1000" err="1"/>
              <a:t>csv</a:t>
            </a:r>
            <a:endParaRPr lang="es-CL" sz="1000"/>
          </a:p>
          <a:p>
            <a:pPr>
              <a:lnSpc>
                <a:spcPct val="90000"/>
              </a:lnSpc>
            </a:pPr>
            <a:r>
              <a:rPr lang="es-CL" sz="1000"/>
              <a:t>│   ├── resumen_columnas.py # Funciones para tablas de calidad y EDA</a:t>
            </a:r>
          </a:p>
          <a:p>
            <a:pPr>
              <a:lnSpc>
                <a:spcPct val="90000"/>
              </a:lnSpc>
            </a:pPr>
            <a:r>
              <a:rPr lang="es-CL" sz="1000"/>
              <a:t>│   ├── eda.py             # Funciones para análisis exploratorio, gráficos</a:t>
            </a:r>
          </a:p>
          <a:p>
            <a:pPr>
              <a:lnSpc>
                <a:spcPct val="90000"/>
              </a:lnSpc>
            </a:pPr>
            <a:r>
              <a:rPr lang="es-CL" sz="1000"/>
              <a:t>│   └── main.py            # Script principal para ejecutar el módulo 1 (EDA)</a:t>
            </a:r>
          </a:p>
          <a:p>
            <a:pPr>
              <a:lnSpc>
                <a:spcPct val="90000"/>
              </a:lnSpc>
            </a:pPr>
            <a:r>
              <a:rPr lang="es-CL" sz="1000"/>
              <a:t>│</a:t>
            </a:r>
          </a:p>
          <a:p>
            <a:pPr>
              <a:lnSpc>
                <a:spcPct val="90000"/>
              </a:lnSpc>
            </a:pPr>
            <a:r>
              <a:rPr lang="es-CL" sz="1000"/>
              <a:t>├── notebooks/             # Opcional, para notebooks de prototipado</a:t>
            </a:r>
          </a:p>
          <a:p>
            <a:pPr>
              <a:lnSpc>
                <a:spcPct val="90000"/>
              </a:lnSpc>
            </a:pPr>
            <a:r>
              <a:rPr lang="es-CL" sz="1000"/>
              <a:t>│   └── </a:t>
            </a:r>
            <a:r>
              <a:rPr lang="es-CL" sz="1000" err="1"/>
              <a:t>exploracion.ipynb</a:t>
            </a:r>
            <a:r>
              <a:rPr lang="es-CL" sz="1000"/>
              <a:t>  # Exploración interactiva inicial</a:t>
            </a:r>
          </a:p>
          <a:p>
            <a:pPr>
              <a:lnSpc>
                <a:spcPct val="90000"/>
              </a:lnSpc>
            </a:pPr>
            <a:r>
              <a:rPr lang="es-CL" sz="1000"/>
              <a:t>│</a:t>
            </a:r>
          </a:p>
          <a:p>
            <a:pPr>
              <a:lnSpc>
                <a:spcPct val="90000"/>
              </a:lnSpc>
            </a:pPr>
            <a:r>
              <a:rPr lang="es-CL" sz="1000"/>
              <a:t>├── outputs/               # Carpeta para resultados: graficas, reportes CSV</a:t>
            </a:r>
          </a:p>
          <a:p>
            <a:pPr>
              <a:lnSpc>
                <a:spcPct val="90000"/>
              </a:lnSpc>
            </a:pPr>
            <a:r>
              <a:rPr lang="es-CL" sz="1000"/>
              <a:t>│   ├── eda_report.csv     # Reporte resumen columnas</a:t>
            </a:r>
          </a:p>
          <a:p>
            <a:pPr>
              <a:lnSpc>
                <a:spcPct val="90000"/>
              </a:lnSpc>
            </a:pPr>
            <a:r>
              <a:rPr lang="es-CL" sz="1000"/>
              <a:t>│   ├── distribucion_obj.png  # Gráfico de distribución variable objetivo</a:t>
            </a:r>
          </a:p>
          <a:p>
            <a:pPr>
              <a:lnSpc>
                <a:spcPct val="90000"/>
              </a:lnSpc>
            </a:pPr>
            <a:r>
              <a:rPr lang="es-CL" sz="1000"/>
              <a:t>│   └── </a:t>
            </a:r>
            <a:r>
              <a:rPr lang="es-CL" sz="1000" err="1"/>
              <a:t>otros_resultados</a:t>
            </a:r>
            <a:r>
              <a:rPr lang="es-CL" sz="1000"/>
              <a:t>/</a:t>
            </a:r>
          </a:p>
          <a:p>
            <a:pPr>
              <a:lnSpc>
                <a:spcPct val="90000"/>
              </a:lnSpc>
            </a:pPr>
            <a:r>
              <a:rPr lang="es-CL" sz="1000"/>
              <a:t>│</a:t>
            </a:r>
          </a:p>
          <a:p>
            <a:pPr>
              <a:lnSpc>
                <a:spcPct val="90000"/>
              </a:lnSpc>
            </a:pPr>
            <a:r>
              <a:rPr lang="es-CL" sz="1000"/>
              <a:t>├── requirements.txt       # Librerías necesarias para entorno Python</a:t>
            </a:r>
          </a:p>
          <a:p>
            <a:pPr>
              <a:lnSpc>
                <a:spcPct val="90000"/>
              </a:lnSpc>
            </a:pPr>
            <a:r>
              <a:rPr lang="es-CL" sz="1000"/>
              <a:t>└── README.md              # Descripción y guía del proyecto</a:t>
            </a:r>
          </a:p>
          <a:p>
            <a:pPr>
              <a:lnSpc>
                <a:spcPct val="90000"/>
              </a:lnSpc>
            </a:pPr>
            <a:endParaRPr lang="es-CL" sz="1000"/>
          </a:p>
        </p:txBody>
      </p:sp>
    </p:spTree>
    <p:extLst>
      <p:ext uri="{BB962C8B-B14F-4D97-AF65-F5344CB8AC3E}">
        <p14:creationId xmlns:p14="http://schemas.microsoft.com/office/powerpoint/2010/main" val="315893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BFD77C-E8E7-E790-AF6F-6F2F05D2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MX" sz="3100" b="1" dirty="0"/>
              <a:t>Librerías principales utilizadas</a:t>
            </a:r>
            <a:endParaRPr lang="es-CL" sz="3100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DDD0D0-46EA-3810-A42E-91FCA0EA0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MX" sz="2700" b="1" dirty="0"/>
              <a:t>pandas (</a:t>
            </a:r>
            <a:r>
              <a:rPr lang="es-MX" sz="2700" b="1" dirty="0" err="1"/>
              <a:t>pd</a:t>
            </a:r>
            <a:r>
              <a:rPr lang="es-MX" sz="2700" b="1" dirty="0"/>
              <a:t>):</a:t>
            </a:r>
            <a:r>
              <a:rPr lang="es-MX" sz="2700" dirty="0"/>
              <a:t> Carga y manejo de datos tabulares con </a:t>
            </a:r>
            <a:r>
              <a:rPr lang="es-MX" sz="2700" dirty="0" err="1"/>
              <a:t>DataFrames</a:t>
            </a:r>
            <a:r>
              <a:rPr lang="es-MX" sz="2700" dirty="0"/>
              <a:t>; manipulación de tipos, faltantes y estadísticos básicos.</a:t>
            </a:r>
          </a:p>
          <a:p>
            <a:pPr>
              <a:lnSpc>
                <a:spcPct val="90000"/>
              </a:lnSpc>
            </a:pPr>
            <a:r>
              <a:rPr lang="es-MX" sz="2700" b="1" dirty="0" err="1"/>
              <a:t>pathlib.Path</a:t>
            </a:r>
            <a:r>
              <a:rPr lang="es-MX" sz="2700" b="1" dirty="0"/>
              <a:t>:</a:t>
            </a:r>
            <a:r>
              <a:rPr lang="es-MX" sz="2700" dirty="0"/>
              <a:t> Manejo robusto y multiplataforma de rutas, validación de existencia de archivos.</a:t>
            </a:r>
          </a:p>
          <a:p>
            <a:pPr>
              <a:lnSpc>
                <a:spcPct val="90000"/>
              </a:lnSpc>
            </a:pPr>
            <a:r>
              <a:rPr lang="es-MX" sz="2700" b="1" dirty="0" err="1"/>
              <a:t>numpy</a:t>
            </a:r>
            <a:r>
              <a:rPr lang="es-MX" sz="2700" b="1" dirty="0"/>
              <a:t> (</a:t>
            </a:r>
            <a:r>
              <a:rPr lang="es-MX" sz="2700" b="1" dirty="0" err="1"/>
              <a:t>np</a:t>
            </a:r>
            <a:r>
              <a:rPr lang="es-MX" sz="2700" b="1" dirty="0"/>
              <a:t>):</a:t>
            </a:r>
            <a:r>
              <a:rPr lang="es-MX" sz="2700" dirty="0"/>
              <a:t> Operaciones numéricas, identificación de columnas numéricas y uso en descripciones estadísticas.</a:t>
            </a:r>
          </a:p>
          <a:p>
            <a:pPr>
              <a:lnSpc>
                <a:spcPct val="90000"/>
              </a:lnSpc>
            </a:pPr>
            <a:r>
              <a:rPr lang="es-MX" sz="2700" b="1" dirty="0" err="1"/>
              <a:t>matplotlib.pyplot</a:t>
            </a:r>
            <a:r>
              <a:rPr lang="es-MX" sz="2700" b="1" dirty="0"/>
              <a:t> (</a:t>
            </a:r>
            <a:r>
              <a:rPr lang="es-MX" sz="2700" b="1" dirty="0" err="1"/>
              <a:t>plt</a:t>
            </a:r>
            <a:r>
              <a:rPr lang="es-MX" sz="2700" b="1" dirty="0"/>
              <a:t>):</a:t>
            </a:r>
            <a:r>
              <a:rPr lang="es-MX" sz="2700" dirty="0"/>
              <a:t> Generación de gráficos para análisis visual de distribuciones y calidad.</a:t>
            </a:r>
          </a:p>
          <a:p>
            <a:pPr>
              <a:lnSpc>
                <a:spcPct val="90000"/>
              </a:lnSpc>
            </a:pPr>
            <a:endParaRPr lang="es-CL" sz="2700" dirty="0"/>
          </a:p>
        </p:txBody>
      </p:sp>
    </p:spTree>
    <p:extLst>
      <p:ext uri="{BB962C8B-B14F-4D97-AF65-F5344CB8AC3E}">
        <p14:creationId xmlns:p14="http://schemas.microsoft.com/office/powerpoint/2010/main" val="3448582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8DF7A05-9007-01F2-926D-355DE5B73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MX" b="1" dirty="0"/>
              <a:t>Cómo importar cada librería necesaria</a:t>
            </a:r>
            <a:endParaRPr lang="es-CL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497E22-8FBA-E043-9A5C-1120869EA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CL" sz="1500"/>
              <a:t>pandas</a:t>
            </a:r>
          </a:p>
          <a:p>
            <a:pPr>
              <a:lnSpc>
                <a:spcPct val="90000"/>
              </a:lnSpc>
            </a:pPr>
            <a:r>
              <a:rPr lang="es-CL" sz="1500" b="1" err="1"/>
              <a:t>import</a:t>
            </a:r>
            <a:r>
              <a:rPr lang="es-CL" sz="1500" b="1"/>
              <a:t> pandas as </a:t>
            </a:r>
            <a:r>
              <a:rPr lang="es-CL" sz="1500" b="1" err="1"/>
              <a:t>pd</a:t>
            </a:r>
            <a:endParaRPr lang="es-CL" sz="1500" b="1"/>
          </a:p>
          <a:p>
            <a:pPr>
              <a:lnSpc>
                <a:spcPct val="90000"/>
              </a:lnSpc>
            </a:pPr>
            <a:r>
              <a:rPr lang="es-CL" sz="1500"/>
              <a:t>Uso principal: manejo de datos tabulares con </a:t>
            </a:r>
            <a:r>
              <a:rPr lang="es-CL" sz="1500" err="1"/>
              <a:t>DataFrame</a:t>
            </a:r>
            <a:r>
              <a:rPr lang="es-CL" sz="1500"/>
              <a:t>.</a:t>
            </a:r>
          </a:p>
          <a:p>
            <a:pPr>
              <a:lnSpc>
                <a:spcPct val="90000"/>
              </a:lnSpc>
            </a:pPr>
            <a:endParaRPr lang="es-CL" sz="1500"/>
          </a:p>
          <a:p>
            <a:pPr>
              <a:lnSpc>
                <a:spcPct val="90000"/>
              </a:lnSpc>
            </a:pPr>
            <a:r>
              <a:rPr lang="es-CL" sz="1500" err="1"/>
              <a:t>numpy</a:t>
            </a:r>
            <a:endParaRPr lang="es-CL" sz="1500"/>
          </a:p>
          <a:p>
            <a:pPr>
              <a:lnSpc>
                <a:spcPct val="90000"/>
              </a:lnSpc>
            </a:pPr>
            <a:r>
              <a:rPr lang="es-CL" sz="1500" b="1" err="1"/>
              <a:t>import</a:t>
            </a:r>
            <a:r>
              <a:rPr lang="es-CL" sz="1500" b="1"/>
              <a:t> </a:t>
            </a:r>
            <a:r>
              <a:rPr lang="es-CL" sz="1500" b="1" err="1"/>
              <a:t>numpy</a:t>
            </a:r>
            <a:r>
              <a:rPr lang="es-CL" sz="1500" b="1"/>
              <a:t> as </a:t>
            </a:r>
            <a:r>
              <a:rPr lang="es-CL" sz="1500" b="1" err="1"/>
              <a:t>np</a:t>
            </a:r>
            <a:endParaRPr lang="es-CL" sz="1500" b="1"/>
          </a:p>
          <a:p>
            <a:pPr>
              <a:lnSpc>
                <a:spcPct val="90000"/>
              </a:lnSpc>
            </a:pPr>
            <a:r>
              <a:rPr lang="es-CL" sz="1500"/>
              <a:t>Uso principal: operaciones numéricas, vectores y matrices.</a:t>
            </a:r>
          </a:p>
          <a:p>
            <a:pPr>
              <a:lnSpc>
                <a:spcPct val="90000"/>
              </a:lnSpc>
            </a:pPr>
            <a:endParaRPr lang="es-CL" sz="1500"/>
          </a:p>
          <a:p>
            <a:pPr>
              <a:lnSpc>
                <a:spcPct val="90000"/>
              </a:lnSpc>
            </a:pPr>
            <a:r>
              <a:rPr lang="es-CL" sz="1500" err="1"/>
              <a:t>matplotlib.pyplot</a:t>
            </a:r>
            <a:endParaRPr lang="es-CL" sz="1500"/>
          </a:p>
          <a:p>
            <a:pPr>
              <a:lnSpc>
                <a:spcPct val="90000"/>
              </a:lnSpc>
            </a:pPr>
            <a:r>
              <a:rPr lang="es-CL" sz="1500" b="1" err="1"/>
              <a:t>import</a:t>
            </a:r>
            <a:r>
              <a:rPr lang="es-CL" sz="1500" b="1"/>
              <a:t> </a:t>
            </a:r>
            <a:r>
              <a:rPr lang="es-CL" sz="1500" b="1" err="1"/>
              <a:t>matplotlib.pyplot</a:t>
            </a:r>
            <a:r>
              <a:rPr lang="es-CL" sz="1500" b="1"/>
              <a:t> as </a:t>
            </a:r>
            <a:r>
              <a:rPr lang="es-CL" sz="1500" b="1" err="1"/>
              <a:t>plt</a:t>
            </a:r>
            <a:endParaRPr lang="es-CL" sz="1500" b="1"/>
          </a:p>
          <a:p>
            <a:pPr>
              <a:lnSpc>
                <a:spcPct val="90000"/>
              </a:lnSpc>
            </a:pPr>
            <a:r>
              <a:rPr lang="es-CL" sz="1500"/>
              <a:t>Uso principal: generación de gráficos (barras, histogramas, </a:t>
            </a:r>
            <a:r>
              <a:rPr lang="es-CL" sz="1500" err="1"/>
              <a:t>boxplots</a:t>
            </a:r>
            <a:r>
              <a:rPr lang="es-CL" sz="1500"/>
              <a:t>).</a:t>
            </a:r>
          </a:p>
          <a:p>
            <a:pPr>
              <a:lnSpc>
                <a:spcPct val="90000"/>
              </a:lnSpc>
            </a:pPr>
            <a:endParaRPr lang="es-CL" sz="1500"/>
          </a:p>
          <a:p>
            <a:pPr>
              <a:lnSpc>
                <a:spcPct val="90000"/>
              </a:lnSpc>
            </a:pPr>
            <a:r>
              <a:rPr lang="es-CL" sz="1500" err="1"/>
              <a:t>pathlib.Path</a:t>
            </a:r>
            <a:endParaRPr lang="es-CL" sz="1500"/>
          </a:p>
          <a:p>
            <a:pPr>
              <a:lnSpc>
                <a:spcPct val="90000"/>
              </a:lnSpc>
            </a:pPr>
            <a:r>
              <a:rPr lang="es-CL" sz="1500" b="1" err="1"/>
              <a:t>from</a:t>
            </a:r>
            <a:r>
              <a:rPr lang="es-CL" sz="1500" b="1"/>
              <a:t> </a:t>
            </a:r>
            <a:r>
              <a:rPr lang="es-CL" sz="1500" b="1" err="1"/>
              <a:t>pathlib</a:t>
            </a:r>
            <a:r>
              <a:rPr lang="es-CL" sz="1500" b="1"/>
              <a:t> </a:t>
            </a:r>
            <a:r>
              <a:rPr lang="es-CL" sz="1500" b="1" err="1"/>
              <a:t>import</a:t>
            </a:r>
            <a:r>
              <a:rPr lang="es-CL" sz="1500" b="1"/>
              <a:t> </a:t>
            </a:r>
            <a:r>
              <a:rPr lang="es-CL" sz="1500" b="1" err="1"/>
              <a:t>Path</a:t>
            </a:r>
            <a:endParaRPr lang="es-CL" sz="1500" b="1"/>
          </a:p>
          <a:p>
            <a:pPr>
              <a:lnSpc>
                <a:spcPct val="90000"/>
              </a:lnSpc>
            </a:pPr>
            <a:r>
              <a:rPr lang="es-CL" sz="1500"/>
              <a:t>Uso principal: manejo robusto de rutas y archivos.</a:t>
            </a:r>
          </a:p>
        </p:txBody>
      </p:sp>
    </p:spTree>
    <p:extLst>
      <p:ext uri="{BB962C8B-B14F-4D97-AF65-F5344CB8AC3E}">
        <p14:creationId xmlns:p14="http://schemas.microsoft.com/office/powerpoint/2010/main" val="2187203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200"/>
            </a:pPr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Ejemplo 1 — Carga robusta de CSV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1825625"/>
            <a:ext cx="416886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200"/>
              <a:t>Objetivo: Leer un CSV de forma segura, validando que el archivo exista y probando encodings comunes. Mostrar primeras filas y tipos de datos para verificar el dataset.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Block Arc 4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2" name="Arc 5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200"/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Ejemplo 1 — Elementos y funcionalidad</a:t>
            </a: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Elementos y funcionalidad: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- Path.exists() para validar la ruta.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- pd.read_csv() con sep y lista de encodings (utf-8, latin-1).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- low_memory=False para evitar tipos “partidos”.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- DataFrame.head() y DataFrame.dtypes para verificación rápida.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s-CL"/>
              <a:t>Ejemplo 1 — Código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97640"/>
            <a:ext cx="8812028" cy="57477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rPr lang="es-CL" sz="1050" dirty="0" err="1"/>
              <a:t>import</a:t>
            </a:r>
            <a:r>
              <a:rPr lang="es-CL" sz="1050" dirty="0"/>
              <a:t> pandas as </a:t>
            </a:r>
            <a:r>
              <a:rPr lang="es-CL" sz="1050" dirty="0" err="1"/>
              <a:t>pd</a:t>
            </a:r>
            <a:endParaRPr lang="es-CL" sz="1050" dirty="0"/>
          </a:p>
          <a:p>
            <a:pPr>
              <a:defRPr sz="1400">
                <a:latin typeface="Consolas"/>
              </a:defRPr>
            </a:pPr>
            <a:r>
              <a:rPr lang="es-CL" sz="1050" dirty="0" err="1"/>
              <a:t>from</a:t>
            </a:r>
            <a:r>
              <a:rPr lang="es-CL" sz="1050" dirty="0"/>
              <a:t> </a:t>
            </a:r>
            <a:r>
              <a:rPr lang="es-CL" sz="1050" dirty="0" err="1"/>
              <a:t>pathlib</a:t>
            </a:r>
            <a:r>
              <a:rPr lang="es-CL" sz="1050" dirty="0"/>
              <a:t> </a:t>
            </a:r>
            <a:r>
              <a:rPr lang="es-CL" sz="1050" dirty="0" err="1"/>
              <a:t>import</a:t>
            </a:r>
            <a:r>
              <a:rPr lang="es-CL" sz="1050" dirty="0"/>
              <a:t> </a:t>
            </a:r>
            <a:r>
              <a:rPr lang="es-CL" sz="1050" dirty="0" err="1"/>
              <a:t>Path</a:t>
            </a:r>
            <a:endParaRPr lang="es-CL" sz="1050" dirty="0"/>
          </a:p>
          <a:p>
            <a:pPr>
              <a:defRPr sz="1400">
                <a:latin typeface="Consolas"/>
              </a:defRPr>
            </a:pPr>
            <a:endParaRPr lang="es-CL" sz="1050" dirty="0"/>
          </a:p>
          <a:p>
            <a:pPr>
              <a:defRPr sz="1400">
                <a:latin typeface="Consolas"/>
              </a:defRPr>
            </a:pPr>
            <a:r>
              <a:rPr lang="es-CL" sz="1050" dirty="0" err="1"/>
              <a:t>def</a:t>
            </a:r>
            <a:r>
              <a:rPr lang="es-CL" sz="1050" dirty="0"/>
              <a:t> </a:t>
            </a:r>
            <a:r>
              <a:rPr lang="es-CL" sz="1050" dirty="0" err="1"/>
              <a:t>cargar_csv</a:t>
            </a:r>
            <a:r>
              <a:rPr lang="es-CL" sz="1050" dirty="0"/>
              <a:t>(</a:t>
            </a:r>
            <a:r>
              <a:rPr lang="es-CL" sz="1050" dirty="0" err="1"/>
              <a:t>ruta:str</a:t>
            </a:r>
            <a:r>
              <a:rPr lang="es-CL" sz="1050" dirty="0"/>
              <a:t>, </a:t>
            </a:r>
            <a:r>
              <a:rPr lang="es-CL" sz="1050" dirty="0" err="1"/>
              <a:t>sep:str</a:t>
            </a:r>
            <a:r>
              <a:rPr lang="es-CL" sz="1050" dirty="0"/>
              <a:t>=",", </a:t>
            </a:r>
            <a:r>
              <a:rPr lang="es-CL" sz="1050" dirty="0" err="1"/>
              <a:t>encoding_prioridad</a:t>
            </a:r>
            <a:r>
              <a:rPr lang="es-CL" sz="1050" dirty="0"/>
              <a:t>=("utf-8", "latin-1")) -&gt; </a:t>
            </a:r>
            <a:r>
              <a:rPr lang="es-CL" sz="1050" dirty="0" err="1"/>
              <a:t>pd.DataFrame</a:t>
            </a:r>
            <a:r>
              <a:rPr lang="es-CL" sz="1050" dirty="0"/>
              <a:t>:</a:t>
            </a:r>
          </a:p>
          <a:p>
            <a:pPr>
              <a:defRPr sz="1400">
                <a:latin typeface="Consolas"/>
              </a:defRPr>
            </a:pPr>
            <a:r>
              <a:rPr lang="es-CL" sz="1050" dirty="0"/>
              <a:t>    """</a:t>
            </a:r>
          </a:p>
          <a:p>
            <a:pPr>
              <a:defRPr sz="1400">
                <a:latin typeface="Consolas"/>
              </a:defRPr>
            </a:pPr>
            <a:r>
              <a:rPr lang="es-CL" sz="1050" dirty="0"/>
              <a:t>    Lee un archivo CSV probando múltiples '</a:t>
            </a:r>
            <a:r>
              <a:rPr lang="es-CL" sz="1050" dirty="0" err="1"/>
              <a:t>encodings</a:t>
            </a:r>
            <a:r>
              <a:rPr lang="es-CL" sz="1050" dirty="0"/>
              <a:t>' y valida la existencia del archivo.</a:t>
            </a:r>
          </a:p>
          <a:p>
            <a:pPr>
              <a:defRPr sz="1400">
                <a:latin typeface="Consolas"/>
              </a:defRPr>
            </a:pPr>
            <a:endParaRPr lang="es-CL" sz="1050" dirty="0"/>
          </a:p>
          <a:p>
            <a:pPr>
              <a:defRPr sz="1400">
                <a:latin typeface="Consolas"/>
              </a:defRPr>
            </a:pPr>
            <a:r>
              <a:rPr lang="es-CL" sz="1050" dirty="0"/>
              <a:t>    Parámetros:</a:t>
            </a:r>
          </a:p>
          <a:p>
            <a:pPr>
              <a:defRPr sz="1400">
                <a:latin typeface="Consolas"/>
              </a:defRPr>
            </a:pPr>
            <a:r>
              <a:rPr lang="es-CL" sz="1050" dirty="0"/>
              <a:t>    - ruta: </a:t>
            </a:r>
            <a:r>
              <a:rPr lang="es-CL" sz="1050" dirty="0" err="1"/>
              <a:t>str</a:t>
            </a:r>
            <a:r>
              <a:rPr lang="es-CL" sz="1050" dirty="0"/>
              <a:t>. Ruta al CSV (relativa o absoluta).</a:t>
            </a:r>
          </a:p>
          <a:p>
            <a:pPr>
              <a:defRPr sz="1400">
                <a:latin typeface="Consolas"/>
              </a:defRPr>
            </a:pPr>
            <a:r>
              <a:rPr lang="es-CL" sz="1050" dirty="0"/>
              <a:t>    - </a:t>
            </a:r>
            <a:r>
              <a:rPr lang="es-CL" sz="1050" dirty="0" err="1"/>
              <a:t>sep</a:t>
            </a:r>
            <a:r>
              <a:rPr lang="es-CL" sz="1050" dirty="0"/>
              <a:t>: </a:t>
            </a:r>
            <a:r>
              <a:rPr lang="es-CL" sz="1050" dirty="0" err="1"/>
              <a:t>str</a:t>
            </a:r>
            <a:r>
              <a:rPr lang="es-CL" sz="1050" dirty="0"/>
              <a:t>. Separador de columnas ("," para CSV estándar, ";" típico de Excel en español).</a:t>
            </a:r>
          </a:p>
          <a:p>
            <a:pPr>
              <a:defRPr sz="1400">
                <a:latin typeface="Consolas"/>
              </a:defRPr>
            </a:pPr>
            <a:r>
              <a:rPr lang="es-CL" sz="1050" dirty="0"/>
              <a:t>    - </a:t>
            </a:r>
            <a:r>
              <a:rPr lang="es-CL" sz="1050" dirty="0" err="1"/>
              <a:t>encoding_prioridad</a:t>
            </a:r>
            <a:r>
              <a:rPr lang="es-CL" sz="1050" dirty="0"/>
              <a:t>: tupla de </a:t>
            </a:r>
            <a:r>
              <a:rPr lang="es-CL" sz="1050" dirty="0" err="1"/>
              <a:t>encodings</a:t>
            </a:r>
            <a:r>
              <a:rPr lang="es-CL" sz="1050" dirty="0"/>
              <a:t> a probar en orden.</a:t>
            </a:r>
          </a:p>
          <a:p>
            <a:pPr algn="ctr">
              <a:defRPr sz="1400">
                <a:latin typeface="Consolas"/>
              </a:defRPr>
            </a:pPr>
            <a:endParaRPr lang="es-CL" sz="1050" dirty="0"/>
          </a:p>
          <a:p>
            <a:pPr>
              <a:defRPr sz="1400">
                <a:latin typeface="Consolas"/>
              </a:defRPr>
            </a:pPr>
            <a:r>
              <a:rPr lang="es-CL" sz="1050" dirty="0"/>
              <a:t>    Retorna:</a:t>
            </a:r>
          </a:p>
          <a:p>
            <a:pPr>
              <a:defRPr sz="1400">
                <a:latin typeface="Consolas"/>
              </a:defRPr>
            </a:pPr>
            <a:r>
              <a:rPr lang="es-CL" sz="1050" dirty="0"/>
              <a:t>    - </a:t>
            </a:r>
            <a:r>
              <a:rPr lang="es-CL" sz="1050" dirty="0" err="1"/>
              <a:t>pd.DataFrame</a:t>
            </a:r>
            <a:r>
              <a:rPr lang="es-CL" sz="1050" dirty="0"/>
              <a:t> con los datos cargados.</a:t>
            </a:r>
          </a:p>
          <a:p>
            <a:pPr>
              <a:defRPr sz="1400">
                <a:latin typeface="Consolas"/>
              </a:defRPr>
            </a:pPr>
            <a:r>
              <a:rPr lang="es-CL" sz="1050" dirty="0"/>
              <a:t>    """</a:t>
            </a:r>
          </a:p>
          <a:p>
            <a:pPr>
              <a:defRPr sz="1400">
                <a:latin typeface="Consolas"/>
              </a:defRPr>
            </a:pPr>
            <a:r>
              <a:rPr lang="es-CL" sz="1050" dirty="0"/>
              <a:t>    ruta = </a:t>
            </a:r>
            <a:r>
              <a:rPr lang="es-CL" sz="1050" dirty="0" err="1"/>
              <a:t>Path</a:t>
            </a:r>
            <a:r>
              <a:rPr lang="es-CL" sz="1050" dirty="0"/>
              <a:t>(ruta)</a:t>
            </a:r>
          </a:p>
          <a:p>
            <a:pPr>
              <a:defRPr sz="1400">
                <a:latin typeface="Consolas"/>
              </a:defRPr>
            </a:pPr>
            <a:r>
              <a:rPr lang="es-CL" sz="1050" dirty="0"/>
              <a:t>    </a:t>
            </a:r>
            <a:r>
              <a:rPr lang="es-CL" sz="1050" dirty="0" err="1"/>
              <a:t>if</a:t>
            </a:r>
            <a:r>
              <a:rPr lang="es-CL" sz="1050" dirty="0"/>
              <a:t> </a:t>
            </a:r>
            <a:r>
              <a:rPr lang="es-CL" sz="1050" dirty="0" err="1"/>
              <a:t>not</a:t>
            </a:r>
            <a:r>
              <a:rPr lang="es-CL" sz="1050" dirty="0"/>
              <a:t> </a:t>
            </a:r>
            <a:r>
              <a:rPr lang="es-CL" sz="1050" dirty="0" err="1"/>
              <a:t>ruta.exists</a:t>
            </a:r>
            <a:r>
              <a:rPr lang="es-CL" sz="1050" dirty="0"/>
              <a:t>():</a:t>
            </a:r>
          </a:p>
          <a:p>
            <a:pPr>
              <a:defRPr sz="1400">
                <a:latin typeface="Consolas"/>
              </a:defRPr>
            </a:pPr>
            <a:r>
              <a:rPr lang="es-CL" sz="1050" dirty="0"/>
              <a:t>        </a:t>
            </a:r>
            <a:r>
              <a:rPr lang="es-CL" sz="1050" dirty="0" err="1"/>
              <a:t>raise</a:t>
            </a:r>
            <a:r>
              <a:rPr lang="es-CL" sz="1050" dirty="0"/>
              <a:t> </a:t>
            </a:r>
            <a:r>
              <a:rPr lang="es-CL" sz="1050" dirty="0" err="1"/>
              <a:t>FileNotFoundError</a:t>
            </a:r>
            <a:r>
              <a:rPr lang="es-CL" sz="1050" dirty="0"/>
              <a:t>(</a:t>
            </a:r>
            <a:r>
              <a:rPr lang="es-CL" sz="1050" dirty="0" err="1"/>
              <a:t>f"No</a:t>
            </a:r>
            <a:r>
              <a:rPr lang="es-CL" sz="1050" dirty="0"/>
              <a:t> se encontró el archivo: {</a:t>
            </a:r>
            <a:r>
              <a:rPr lang="es-CL" sz="1050" dirty="0" err="1"/>
              <a:t>ruta.resolve</a:t>
            </a:r>
            <a:r>
              <a:rPr lang="es-CL" sz="1050" dirty="0"/>
              <a:t>()}" )</a:t>
            </a:r>
          </a:p>
          <a:p>
            <a:pPr>
              <a:defRPr sz="1400">
                <a:latin typeface="Consolas"/>
              </a:defRPr>
            </a:pPr>
            <a:endParaRPr lang="es-CL" sz="1050" dirty="0"/>
          </a:p>
          <a:p>
            <a:pPr>
              <a:defRPr sz="1400">
                <a:latin typeface="Consolas"/>
              </a:defRPr>
            </a:pPr>
            <a:r>
              <a:rPr lang="es-CL" sz="1050" dirty="0"/>
              <a:t>    </a:t>
            </a:r>
            <a:r>
              <a:rPr lang="es-CL" sz="1050" dirty="0" err="1"/>
              <a:t>ultimo_error</a:t>
            </a:r>
            <a:r>
              <a:rPr lang="es-CL" sz="1050" dirty="0"/>
              <a:t> = </a:t>
            </a:r>
            <a:r>
              <a:rPr lang="es-CL" sz="1050" dirty="0" err="1"/>
              <a:t>None</a:t>
            </a:r>
            <a:endParaRPr lang="es-CL" sz="1050" dirty="0"/>
          </a:p>
          <a:p>
            <a:pPr>
              <a:defRPr sz="1400">
                <a:latin typeface="Consolas"/>
              </a:defRPr>
            </a:pPr>
            <a:r>
              <a:rPr lang="es-CL" sz="1050" dirty="0"/>
              <a:t>    </a:t>
            </a:r>
            <a:r>
              <a:rPr lang="es-CL" sz="1050" dirty="0" err="1"/>
              <a:t>for</a:t>
            </a:r>
            <a:r>
              <a:rPr lang="es-CL" sz="1050" dirty="0"/>
              <a:t> </a:t>
            </a:r>
            <a:r>
              <a:rPr lang="es-CL" sz="1050" dirty="0" err="1"/>
              <a:t>enc</a:t>
            </a:r>
            <a:r>
              <a:rPr lang="es-CL" sz="1050" dirty="0"/>
              <a:t> in </a:t>
            </a:r>
            <a:r>
              <a:rPr lang="es-CL" sz="1050" dirty="0" err="1"/>
              <a:t>encoding_prioridad</a:t>
            </a:r>
            <a:r>
              <a:rPr lang="es-CL" sz="1050" dirty="0"/>
              <a:t>:</a:t>
            </a:r>
          </a:p>
          <a:p>
            <a:pPr>
              <a:defRPr sz="1400">
                <a:latin typeface="Consolas"/>
              </a:defRPr>
            </a:pPr>
            <a:r>
              <a:rPr lang="es-CL" sz="1050" dirty="0"/>
              <a:t>        try:</a:t>
            </a:r>
          </a:p>
          <a:p>
            <a:pPr>
              <a:defRPr sz="1400">
                <a:latin typeface="Consolas"/>
              </a:defRPr>
            </a:pPr>
            <a:r>
              <a:rPr lang="es-CL" sz="1050" dirty="0"/>
              <a:t>            </a:t>
            </a:r>
            <a:r>
              <a:rPr lang="es-CL" sz="1050" dirty="0" err="1"/>
              <a:t>df</a:t>
            </a:r>
            <a:r>
              <a:rPr lang="es-CL" sz="1050" dirty="0"/>
              <a:t> = </a:t>
            </a:r>
            <a:r>
              <a:rPr lang="es-CL" sz="1050" dirty="0" err="1"/>
              <a:t>pd.read_csv</a:t>
            </a:r>
            <a:r>
              <a:rPr lang="es-CL" sz="1050" dirty="0"/>
              <a:t>(ruta, </a:t>
            </a:r>
            <a:r>
              <a:rPr lang="es-CL" sz="1050" dirty="0" err="1"/>
              <a:t>sep</a:t>
            </a:r>
            <a:r>
              <a:rPr lang="es-CL" sz="1050" dirty="0"/>
              <a:t>=</a:t>
            </a:r>
            <a:r>
              <a:rPr lang="es-CL" sz="1050" dirty="0" err="1"/>
              <a:t>sep</a:t>
            </a:r>
            <a:r>
              <a:rPr lang="es-CL" sz="1050" dirty="0"/>
              <a:t>, </a:t>
            </a:r>
            <a:r>
              <a:rPr lang="es-CL" sz="1050" dirty="0" err="1"/>
              <a:t>encoding</a:t>
            </a:r>
            <a:r>
              <a:rPr lang="es-CL" sz="1050" dirty="0"/>
              <a:t>=</a:t>
            </a:r>
            <a:r>
              <a:rPr lang="es-CL" sz="1050" dirty="0" err="1"/>
              <a:t>enc</a:t>
            </a:r>
            <a:r>
              <a:rPr lang="es-CL" sz="1050" dirty="0"/>
              <a:t>, </a:t>
            </a:r>
            <a:r>
              <a:rPr lang="es-CL" sz="1050" dirty="0" err="1"/>
              <a:t>low_memory</a:t>
            </a:r>
            <a:r>
              <a:rPr lang="es-CL" sz="1050" dirty="0"/>
              <a:t>=False)</a:t>
            </a:r>
          </a:p>
          <a:p>
            <a:pPr>
              <a:defRPr sz="1400">
                <a:latin typeface="Consolas"/>
              </a:defRPr>
            </a:pPr>
            <a:r>
              <a:rPr lang="es-CL" sz="1050" dirty="0"/>
              <a:t>            </a:t>
            </a:r>
            <a:r>
              <a:rPr lang="es-CL" sz="1050" dirty="0" err="1"/>
              <a:t>print</a:t>
            </a:r>
            <a:r>
              <a:rPr lang="es-CL" sz="1050" dirty="0"/>
              <a:t>(f"[OK] Cargado con </a:t>
            </a:r>
            <a:r>
              <a:rPr lang="es-CL" sz="1050" dirty="0" err="1"/>
              <a:t>encoding</a:t>
            </a:r>
            <a:r>
              <a:rPr lang="es-CL" sz="1050" dirty="0"/>
              <a:t>='{</a:t>
            </a:r>
            <a:r>
              <a:rPr lang="es-CL" sz="1050" dirty="0" err="1"/>
              <a:t>enc</a:t>
            </a:r>
            <a:r>
              <a:rPr lang="es-CL" sz="1050" dirty="0"/>
              <a:t>}' y separador='{</a:t>
            </a:r>
            <a:r>
              <a:rPr lang="es-CL" sz="1050" dirty="0" err="1"/>
              <a:t>sep</a:t>
            </a:r>
            <a:r>
              <a:rPr lang="es-CL" sz="1050" dirty="0"/>
              <a:t>}'. Filas={</a:t>
            </a:r>
            <a:r>
              <a:rPr lang="es-CL" sz="1050" dirty="0" err="1"/>
              <a:t>len</a:t>
            </a:r>
            <a:r>
              <a:rPr lang="es-CL" sz="1050" dirty="0"/>
              <a:t>(</a:t>
            </a:r>
            <a:r>
              <a:rPr lang="es-CL" sz="1050" dirty="0" err="1"/>
              <a:t>df</a:t>
            </a:r>
            <a:r>
              <a:rPr lang="es-CL" sz="1050" dirty="0"/>
              <a:t>)}, Columnas={</a:t>
            </a:r>
            <a:r>
              <a:rPr lang="es-CL" sz="1050" dirty="0" err="1"/>
              <a:t>df.shape</a:t>
            </a:r>
            <a:r>
              <a:rPr lang="es-CL" sz="1050" dirty="0"/>
              <a:t>[1]}" )</a:t>
            </a:r>
          </a:p>
          <a:p>
            <a:pPr>
              <a:defRPr sz="1400">
                <a:latin typeface="Consolas"/>
              </a:defRPr>
            </a:pPr>
            <a:r>
              <a:rPr lang="es-CL" sz="1050" dirty="0"/>
              <a:t>            </a:t>
            </a:r>
            <a:r>
              <a:rPr lang="es-CL" sz="1050" dirty="0" err="1"/>
              <a:t>return</a:t>
            </a:r>
            <a:r>
              <a:rPr lang="es-CL" sz="1050" dirty="0"/>
              <a:t> </a:t>
            </a:r>
            <a:r>
              <a:rPr lang="es-CL" sz="1050" dirty="0" err="1"/>
              <a:t>df</a:t>
            </a:r>
            <a:endParaRPr lang="es-CL" sz="1050" dirty="0"/>
          </a:p>
          <a:p>
            <a:pPr>
              <a:defRPr sz="1400">
                <a:latin typeface="Consolas"/>
              </a:defRPr>
            </a:pPr>
            <a:r>
              <a:rPr lang="es-CL" sz="1050" dirty="0"/>
              <a:t>        </a:t>
            </a:r>
            <a:r>
              <a:rPr lang="es-CL" sz="1050" dirty="0" err="1"/>
              <a:t>except</a:t>
            </a:r>
            <a:r>
              <a:rPr lang="es-CL" sz="1050" dirty="0"/>
              <a:t> </a:t>
            </a:r>
            <a:r>
              <a:rPr lang="es-CL" sz="1050" dirty="0" err="1"/>
              <a:t>Exception</a:t>
            </a:r>
            <a:r>
              <a:rPr lang="es-CL" sz="1050" dirty="0"/>
              <a:t> as e:</a:t>
            </a:r>
          </a:p>
          <a:p>
            <a:pPr>
              <a:defRPr sz="1400">
                <a:latin typeface="Consolas"/>
              </a:defRPr>
            </a:pPr>
            <a:r>
              <a:rPr lang="es-CL" sz="1050" dirty="0"/>
              <a:t>            </a:t>
            </a:r>
            <a:r>
              <a:rPr lang="es-CL" sz="1050" dirty="0" err="1"/>
              <a:t>ultimo_error</a:t>
            </a:r>
            <a:r>
              <a:rPr lang="es-CL" sz="1050" dirty="0"/>
              <a:t> = e</a:t>
            </a:r>
          </a:p>
          <a:p>
            <a:pPr>
              <a:defRPr sz="1400">
                <a:latin typeface="Consolas"/>
              </a:defRPr>
            </a:pPr>
            <a:r>
              <a:rPr lang="es-CL" sz="1050" dirty="0"/>
              <a:t>            continue</a:t>
            </a:r>
          </a:p>
          <a:p>
            <a:pPr>
              <a:defRPr sz="1400">
                <a:latin typeface="Consolas"/>
              </a:defRPr>
            </a:pPr>
            <a:endParaRPr lang="es-CL" sz="1050" dirty="0"/>
          </a:p>
          <a:p>
            <a:pPr>
              <a:defRPr sz="1400">
                <a:latin typeface="Consolas"/>
              </a:defRPr>
            </a:pPr>
            <a:r>
              <a:rPr lang="es-CL" sz="1050" dirty="0"/>
              <a:t>    </a:t>
            </a:r>
            <a:r>
              <a:rPr lang="es-CL" sz="1050" dirty="0" err="1"/>
              <a:t>raise</a:t>
            </a:r>
            <a:r>
              <a:rPr lang="es-CL" sz="1050" dirty="0"/>
              <a:t> </a:t>
            </a:r>
            <a:r>
              <a:rPr lang="es-CL" sz="1050" dirty="0" err="1"/>
              <a:t>RuntimeError</a:t>
            </a:r>
            <a:r>
              <a:rPr lang="es-CL" sz="1050" dirty="0"/>
              <a:t>(</a:t>
            </a:r>
            <a:r>
              <a:rPr lang="es-CL" sz="1050" dirty="0" err="1"/>
              <a:t>f"No</a:t>
            </a:r>
            <a:r>
              <a:rPr lang="es-CL" sz="1050" dirty="0"/>
              <a:t> se pudo leer el CSV con </a:t>
            </a:r>
            <a:r>
              <a:rPr lang="es-CL" sz="1050" dirty="0" err="1"/>
              <a:t>encodings</a:t>
            </a:r>
            <a:r>
              <a:rPr lang="es-CL" sz="1050" dirty="0"/>
              <a:t> {</a:t>
            </a:r>
            <a:r>
              <a:rPr lang="es-CL" sz="1050" dirty="0" err="1"/>
              <a:t>encoding_prioridad</a:t>
            </a:r>
            <a:r>
              <a:rPr lang="es-CL" sz="1050" dirty="0"/>
              <a:t>}. Último error: {</a:t>
            </a:r>
            <a:r>
              <a:rPr lang="es-CL" sz="1050" dirty="0" err="1"/>
              <a:t>ultimo_error</a:t>
            </a:r>
            <a:r>
              <a:rPr lang="es-CL" sz="1050" dirty="0"/>
              <a:t>}")</a:t>
            </a:r>
          </a:p>
          <a:p>
            <a:pPr>
              <a:defRPr sz="1400">
                <a:latin typeface="Consolas"/>
              </a:defRPr>
            </a:pPr>
            <a:endParaRPr lang="es-CL" sz="1050" dirty="0"/>
          </a:p>
          <a:p>
            <a:pPr>
              <a:defRPr sz="1400">
                <a:latin typeface="Consolas"/>
              </a:defRPr>
            </a:pPr>
            <a:r>
              <a:rPr lang="es-CL" sz="1050" dirty="0"/>
              <a:t># === USO DIDÁCTICO ===</a:t>
            </a:r>
          </a:p>
          <a:p>
            <a:pPr>
              <a:defRPr sz="1400">
                <a:latin typeface="Consolas"/>
              </a:defRPr>
            </a:pPr>
            <a:r>
              <a:rPr lang="es-CL" sz="1050" dirty="0" err="1"/>
              <a:t>df</a:t>
            </a:r>
            <a:r>
              <a:rPr lang="es-CL" sz="1050" dirty="0"/>
              <a:t> = </a:t>
            </a:r>
            <a:r>
              <a:rPr lang="es-CL" sz="1050" dirty="0" err="1"/>
              <a:t>cargar_csv</a:t>
            </a:r>
            <a:r>
              <a:rPr lang="es-CL" sz="1050" dirty="0"/>
              <a:t>("datos.csv")     # Cambia a </a:t>
            </a:r>
            <a:r>
              <a:rPr lang="es-CL" sz="1050" dirty="0" err="1"/>
              <a:t>sep</a:t>
            </a:r>
            <a:r>
              <a:rPr lang="es-CL" sz="1050" dirty="0"/>
              <a:t>=";" si tu CSV usa punto y coma</a:t>
            </a:r>
          </a:p>
          <a:p>
            <a:pPr>
              <a:defRPr sz="1400">
                <a:latin typeface="Consolas"/>
              </a:defRPr>
            </a:pPr>
            <a:r>
              <a:rPr lang="es-CL" sz="1050" dirty="0" err="1"/>
              <a:t>print</a:t>
            </a:r>
            <a:r>
              <a:rPr lang="es-CL" sz="1050" dirty="0"/>
              <a:t>(</a:t>
            </a:r>
            <a:r>
              <a:rPr lang="es-CL" sz="1050" dirty="0" err="1"/>
              <a:t>df.head</a:t>
            </a:r>
            <a:r>
              <a:rPr lang="es-CL" sz="1050" dirty="0"/>
              <a:t>(3))                 # Vista rápida de las primeras 3 filas</a:t>
            </a:r>
          </a:p>
          <a:p>
            <a:pPr>
              <a:defRPr sz="1400">
                <a:latin typeface="Consolas"/>
              </a:defRPr>
            </a:pPr>
            <a:r>
              <a:rPr lang="es-CL" sz="1050" dirty="0" err="1"/>
              <a:t>print</a:t>
            </a:r>
            <a:r>
              <a:rPr lang="es-CL" sz="1050" dirty="0"/>
              <a:t>(</a:t>
            </a:r>
            <a:r>
              <a:rPr lang="es-CL" sz="1050" dirty="0" err="1"/>
              <a:t>df.dtypes</a:t>
            </a:r>
            <a:r>
              <a:rPr lang="es-CL" sz="1050" dirty="0"/>
              <a:t>)                  # Tipos de cada columna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200"/>
            </a:pPr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Ejemplo 2 — Tabla de calidad de columnas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1825625"/>
            <a:ext cx="416886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200"/>
              <a:t>Objetivo: Resumir por columna: tipo de dato, número y porcentaje de faltantes, cardinalidad y una heurística que sugiere si una columna de texto podría ser binaria.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200"/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Ejemplo 2 — Elementos y funcionalidad</a:t>
            </a: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Elementos y funcionalidad: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- df.isna().sum() y df.isna().mean() para faltantes.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- df.nunique() para cardinalidad.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- DataFrame resumen ordenado por % faltantes y cardinalidad.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Ejemplo 2 — Código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032694" cy="50013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rPr sz="1100" dirty="0"/>
              <a:t>import </a:t>
            </a:r>
            <a:r>
              <a:rPr sz="1100" dirty="0" err="1"/>
              <a:t>numpy</a:t>
            </a:r>
            <a:r>
              <a:rPr sz="1100" dirty="0"/>
              <a:t> as np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import pandas as pd  # (</a:t>
            </a:r>
            <a:r>
              <a:rPr sz="1100" dirty="0" err="1"/>
              <a:t>por</a:t>
            </a:r>
            <a:r>
              <a:rPr sz="1100" dirty="0"/>
              <a:t> </a:t>
            </a:r>
            <a:r>
              <a:rPr sz="1100" dirty="0" err="1"/>
              <a:t>si</a:t>
            </a:r>
            <a:r>
              <a:rPr sz="1100" dirty="0"/>
              <a:t> se </a:t>
            </a:r>
            <a:r>
              <a:rPr sz="1100" dirty="0" err="1"/>
              <a:t>ejecuta</a:t>
            </a:r>
            <a:r>
              <a:rPr sz="1100" dirty="0"/>
              <a:t> </a:t>
            </a:r>
            <a:r>
              <a:rPr sz="1100" dirty="0" err="1"/>
              <a:t>aislado</a:t>
            </a:r>
            <a:r>
              <a:rPr sz="1100" dirty="0"/>
              <a:t>)</a:t>
            </a:r>
          </a:p>
          <a:p>
            <a:pPr>
              <a:defRPr sz="1400">
                <a:latin typeface="Consolas"/>
              </a:defRPr>
            </a:pPr>
            <a:endParaRPr sz="1100" dirty="0"/>
          </a:p>
          <a:p>
            <a:pPr>
              <a:defRPr sz="1400">
                <a:latin typeface="Consolas"/>
              </a:defRPr>
            </a:pPr>
            <a:r>
              <a:rPr sz="1100" dirty="0"/>
              <a:t>def </a:t>
            </a:r>
            <a:r>
              <a:rPr sz="1100" dirty="0" err="1"/>
              <a:t>resumen_columnas</a:t>
            </a:r>
            <a:r>
              <a:rPr sz="1100" dirty="0"/>
              <a:t>(</a:t>
            </a:r>
            <a:r>
              <a:rPr sz="1100" dirty="0" err="1"/>
              <a:t>df</a:t>
            </a:r>
            <a:r>
              <a:rPr sz="1100" dirty="0"/>
              <a:t>: </a:t>
            </a:r>
            <a:r>
              <a:rPr sz="1100" dirty="0" err="1"/>
              <a:t>pd.DataFrame</a:t>
            </a:r>
            <a:r>
              <a:rPr sz="1100" dirty="0"/>
              <a:t>) -&gt; </a:t>
            </a:r>
            <a:r>
              <a:rPr sz="1100" dirty="0" err="1"/>
              <a:t>pd.DataFrame</a:t>
            </a:r>
            <a:r>
              <a:rPr sz="1100" dirty="0"/>
              <a:t>: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"""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</a:t>
            </a:r>
            <a:r>
              <a:rPr sz="1100" dirty="0" err="1"/>
              <a:t>Tabla</a:t>
            </a:r>
            <a:r>
              <a:rPr sz="1100" dirty="0"/>
              <a:t> de '</a:t>
            </a:r>
            <a:r>
              <a:rPr sz="1100" dirty="0" err="1"/>
              <a:t>calidad</a:t>
            </a:r>
            <a:r>
              <a:rPr sz="1100" dirty="0"/>
              <a:t> de </a:t>
            </a:r>
            <a:r>
              <a:rPr sz="1100" dirty="0" err="1"/>
              <a:t>datos</a:t>
            </a:r>
            <a:r>
              <a:rPr sz="1100" dirty="0"/>
              <a:t>' </a:t>
            </a:r>
            <a:r>
              <a:rPr sz="1100" dirty="0" err="1"/>
              <a:t>por</a:t>
            </a:r>
            <a:r>
              <a:rPr sz="1100" dirty="0"/>
              <a:t> </a:t>
            </a:r>
            <a:r>
              <a:rPr sz="1100" dirty="0" err="1"/>
              <a:t>columna</a:t>
            </a:r>
            <a:r>
              <a:rPr sz="1100" dirty="0"/>
              <a:t>: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- </a:t>
            </a:r>
            <a:r>
              <a:rPr sz="1100" dirty="0" err="1"/>
              <a:t>dtype</a:t>
            </a:r>
            <a:r>
              <a:rPr sz="1100" dirty="0"/>
              <a:t>: </a:t>
            </a:r>
            <a:r>
              <a:rPr sz="1100" dirty="0" err="1"/>
              <a:t>tipo</a:t>
            </a:r>
            <a:r>
              <a:rPr sz="1100" dirty="0"/>
              <a:t> de </a:t>
            </a:r>
            <a:r>
              <a:rPr sz="1100" dirty="0" err="1"/>
              <a:t>dato</a:t>
            </a:r>
            <a:endParaRPr sz="1100" dirty="0"/>
          </a:p>
          <a:p>
            <a:pPr>
              <a:defRPr sz="1400">
                <a:latin typeface="Consolas"/>
              </a:defRPr>
            </a:pPr>
            <a:r>
              <a:rPr sz="1100" dirty="0"/>
              <a:t>    - </a:t>
            </a:r>
            <a:r>
              <a:rPr sz="1100" dirty="0" err="1"/>
              <a:t>n_missing</a:t>
            </a:r>
            <a:r>
              <a:rPr sz="1100" dirty="0"/>
              <a:t>: </a:t>
            </a:r>
            <a:r>
              <a:rPr sz="1100" dirty="0" err="1"/>
              <a:t>número</a:t>
            </a:r>
            <a:r>
              <a:rPr sz="1100" dirty="0"/>
              <a:t> de </a:t>
            </a:r>
            <a:r>
              <a:rPr sz="1100" dirty="0" err="1"/>
              <a:t>faltantes</a:t>
            </a:r>
            <a:endParaRPr sz="1100" dirty="0"/>
          </a:p>
          <a:p>
            <a:pPr>
              <a:defRPr sz="1400">
                <a:latin typeface="Consolas"/>
              </a:defRPr>
            </a:pPr>
            <a:r>
              <a:rPr sz="1100" dirty="0"/>
              <a:t>    - </a:t>
            </a:r>
            <a:r>
              <a:rPr sz="1100" dirty="0" err="1"/>
              <a:t>pct_missing</a:t>
            </a:r>
            <a:r>
              <a:rPr sz="1100" dirty="0"/>
              <a:t>: % de </a:t>
            </a:r>
            <a:r>
              <a:rPr sz="1100" dirty="0" err="1"/>
              <a:t>faltantes</a:t>
            </a:r>
            <a:r>
              <a:rPr sz="1100" dirty="0"/>
              <a:t> (0-100)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- </a:t>
            </a:r>
            <a:r>
              <a:rPr sz="1100" dirty="0" err="1"/>
              <a:t>n_unique</a:t>
            </a:r>
            <a:r>
              <a:rPr sz="1100" dirty="0"/>
              <a:t>: </a:t>
            </a:r>
            <a:r>
              <a:rPr sz="1100" dirty="0" err="1"/>
              <a:t>cardinalidad</a:t>
            </a:r>
            <a:r>
              <a:rPr sz="1100" dirty="0"/>
              <a:t> (</a:t>
            </a:r>
            <a:r>
              <a:rPr sz="1100" dirty="0" err="1"/>
              <a:t>valores</a:t>
            </a:r>
            <a:r>
              <a:rPr sz="1100" dirty="0"/>
              <a:t> </a:t>
            </a:r>
            <a:r>
              <a:rPr sz="1100" dirty="0" err="1"/>
              <a:t>únicos</a:t>
            </a:r>
            <a:r>
              <a:rPr sz="1100" dirty="0"/>
              <a:t>)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- </a:t>
            </a:r>
            <a:r>
              <a:rPr sz="1100" dirty="0" err="1"/>
              <a:t>maybe_binary_text</a:t>
            </a:r>
            <a:r>
              <a:rPr sz="1100" dirty="0"/>
              <a:t>: True/False </a:t>
            </a:r>
            <a:r>
              <a:rPr sz="1100" dirty="0" err="1"/>
              <a:t>si</a:t>
            </a:r>
            <a:r>
              <a:rPr sz="1100" dirty="0"/>
              <a:t> </a:t>
            </a:r>
            <a:r>
              <a:rPr sz="1100" dirty="0" err="1"/>
              <a:t>parece</a:t>
            </a:r>
            <a:r>
              <a:rPr sz="1100" dirty="0"/>
              <a:t> </a:t>
            </a:r>
            <a:r>
              <a:rPr sz="1100" dirty="0" err="1"/>
              <a:t>columna</a:t>
            </a:r>
            <a:r>
              <a:rPr sz="1100" dirty="0"/>
              <a:t> </a:t>
            </a:r>
            <a:r>
              <a:rPr sz="1100" dirty="0" err="1"/>
              <a:t>binaria</a:t>
            </a:r>
            <a:r>
              <a:rPr sz="1100" dirty="0"/>
              <a:t> </a:t>
            </a:r>
            <a:r>
              <a:rPr sz="1100" dirty="0" err="1"/>
              <a:t>guardada</a:t>
            </a:r>
            <a:r>
              <a:rPr sz="1100" dirty="0"/>
              <a:t> </a:t>
            </a:r>
            <a:r>
              <a:rPr sz="1100" dirty="0" err="1"/>
              <a:t>como</a:t>
            </a:r>
            <a:r>
              <a:rPr sz="1100" dirty="0"/>
              <a:t> </a:t>
            </a:r>
            <a:r>
              <a:rPr sz="1100" dirty="0" err="1"/>
              <a:t>texto</a:t>
            </a:r>
            <a:endParaRPr sz="1100" dirty="0"/>
          </a:p>
          <a:p>
            <a:pPr>
              <a:defRPr sz="1400">
                <a:latin typeface="Consolas"/>
              </a:defRPr>
            </a:pPr>
            <a:r>
              <a:rPr sz="1100" dirty="0"/>
              <a:t>    """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</a:t>
            </a:r>
            <a:r>
              <a:rPr sz="1100" dirty="0" err="1"/>
              <a:t>resumen</a:t>
            </a:r>
            <a:r>
              <a:rPr sz="1100" dirty="0"/>
              <a:t> = </a:t>
            </a:r>
            <a:r>
              <a:rPr sz="1100" dirty="0" err="1"/>
              <a:t>pd.DataFrame</a:t>
            </a:r>
            <a:r>
              <a:rPr sz="1100" dirty="0"/>
              <a:t>({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    "</a:t>
            </a:r>
            <a:r>
              <a:rPr sz="1100" dirty="0" err="1"/>
              <a:t>dtype</a:t>
            </a:r>
            <a:r>
              <a:rPr sz="1100" dirty="0"/>
              <a:t>": </a:t>
            </a:r>
            <a:r>
              <a:rPr sz="1100" dirty="0" err="1"/>
              <a:t>df.dtypes.astype</a:t>
            </a:r>
            <a:r>
              <a:rPr sz="1100" dirty="0"/>
              <a:t>(str),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    "</a:t>
            </a:r>
            <a:r>
              <a:rPr sz="1100" dirty="0" err="1"/>
              <a:t>n_missing</a:t>
            </a:r>
            <a:r>
              <a:rPr sz="1100" dirty="0"/>
              <a:t>": </a:t>
            </a:r>
            <a:r>
              <a:rPr sz="1100" dirty="0" err="1"/>
              <a:t>df.isna</a:t>
            </a:r>
            <a:r>
              <a:rPr sz="1100" dirty="0"/>
              <a:t>().sum(),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    "</a:t>
            </a:r>
            <a:r>
              <a:rPr sz="1100" dirty="0" err="1"/>
              <a:t>pct_missing</a:t>
            </a:r>
            <a:r>
              <a:rPr sz="1100" dirty="0"/>
              <a:t>": (</a:t>
            </a:r>
            <a:r>
              <a:rPr sz="1100" dirty="0" err="1"/>
              <a:t>df.isna</a:t>
            </a:r>
            <a:r>
              <a:rPr sz="1100" dirty="0"/>
              <a:t>().mean()*100).round(2),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    "</a:t>
            </a:r>
            <a:r>
              <a:rPr sz="1100" dirty="0" err="1"/>
              <a:t>n_unique</a:t>
            </a:r>
            <a:r>
              <a:rPr sz="1100" dirty="0"/>
              <a:t>": </a:t>
            </a:r>
            <a:r>
              <a:rPr sz="1100" dirty="0" err="1"/>
              <a:t>df.nunique</a:t>
            </a:r>
            <a:r>
              <a:rPr sz="1100" dirty="0"/>
              <a:t>(</a:t>
            </a:r>
            <a:r>
              <a:rPr sz="1100" dirty="0" err="1"/>
              <a:t>dropna</a:t>
            </a:r>
            <a:r>
              <a:rPr sz="1100" dirty="0"/>
              <a:t>=False)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})</a:t>
            </a:r>
          </a:p>
          <a:p>
            <a:pPr>
              <a:defRPr sz="1400">
                <a:latin typeface="Consolas"/>
              </a:defRPr>
            </a:pPr>
            <a:endParaRPr sz="1100" dirty="0"/>
          </a:p>
          <a:p>
            <a:pPr>
              <a:defRPr sz="1400">
                <a:latin typeface="Consolas"/>
              </a:defRPr>
            </a:pPr>
            <a:r>
              <a:rPr sz="1100" dirty="0"/>
              <a:t>    def </a:t>
            </a:r>
            <a:r>
              <a:rPr sz="1100" dirty="0" err="1"/>
              <a:t>posible_binaria</a:t>
            </a:r>
            <a:r>
              <a:rPr sz="1100" dirty="0"/>
              <a:t>(col):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    </a:t>
            </a:r>
            <a:r>
              <a:rPr sz="1100" dirty="0" err="1"/>
              <a:t>vals</a:t>
            </a:r>
            <a:r>
              <a:rPr sz="1100" dirty="0"/>
              <a:t> = set(map(str, </a:t>
            </a:r>
            <a:r>
              <a:rPr sz="1100" dirty="0" err="1"/>
              <a:t>df</a:t>
            </a:r>
            <a:r>
              <a:rPr sz="1100" dirty="0"/>
              <a:t>[col].</a:t>
            </a:r>
            <a:r>
              <a:rPr sz="1100" dirty="0" err="1"/>
              <a:t>dropna</a:t>
            </a:r>
            <a:r>
              <a:rPr sz="1100" dirty="0"/>
              <a:t>().unique()))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    return </a:t>
            </a:r>
            <a:r>
              <a:rPr sz="1100" dirty="0" err="1"/>
              <a:t>vals.issubset</a:t>
            </a:r>
            <a:r>
              <a:rPr sz="1100" dirty="0"/>
              <a:t>({"0","1","True","False","true","false","Sí","No","si","no"})</a:t>
            </a:r>
          </a:p>
          <a:p>
            <a:pPr>
              <a:defRPr sz="1400">
                <a:latin typeface="Consolas"/>
              </a:defRPr>
            </a:pPr>
            <a:endParaRPr sz="1100" dirty="0"/>
          </a:p>
          <a:p>
            <a:pPr>
              <a:defRPr sz="1400">
                <a:latin typeface="Consolas"/>
              </a:defRPr>
            </a:pPr>
            <a:r>
              <a:rPr sz="1100" dirty="0"/>
              <a:t>    </a:t>
            </a:r>
            <a:r>
              <a:rPr sz="1100" dirty="0" err="1"/>
              <a:t>resumen</a:t>
            </a:r>
            <a:r>
              <a:rPr sz="1100" dirty="0"/>
              <a:t>["</a:t>
            </a:r>
            <a:r>
              <a:rPr sz="1100" dirty="0" err="1"/>
              <a:t>maybe_binary_text</a:t>
            </a:r>
            <a:r>
              <a:rPr sz="1100" dirty="0"/>
              <a:t>"] = [</a:t>
            </a:r>
            <a:r>
              <a:rPr sz="1100" dirty="0" err="1"/>
              <a:t>posible_binaria</a:t>
            </a:r>
            <a:r>
              <a:rPr sz="1100" dirty="0"/>
              <a:t>(c) for c in </a:t>
            </a:r>
            <a:r>
              <a:rPr sz="1100" dirty="0" err="1"/>
              <a:t>df.columns</a:t>
            </a:r>
            <a:r>
              <a:rPr sz="1100" dirty="0"/>
              <a:t>]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return </a:t>
            </a:r>
            <a:r>
              <a:rPr sz="1100" dirty="0" err="1"/>
              <a:t>resumen.sort_values</a:t>
            </a:r>
            <a:r>
              <a:rPr sz="1100" dirty="0"/>
              <a:t>(["pct_missing","</a:t>
            </a:r>
            <a:r>
              <a:rPr sz="1100" dirty="0" err="1"/>
              <a:t>n_unique</a:t>
            </a:r>
            <a:r>
              <a:rPr sz="1100" dirty="0"/>
              <a:t>"], ascending=[False, True])</a:t>
            </a:r>
          </a:p>
          <a:p>
            <a:pPr>
              <a:defRPr sz="1400">
                <a:latin typeface="Consolas"/>
              </a:defRPr>
            </a:pPr>
            <a:endParaRPr sz="1100" dirty="0"/>
          </a:p>
          <a:p>
            <a:pPr>
              <a:defRPr sz="1400">
                <a:latin typeface="Consolas"/>
              </a:defRPr>
            </a:pPr>
            <a:r>
              <a:rPr sz="1100" dirty="0"/>
              <a:t># === USO DIDÁCTICO ===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res = </a:t>
            </a:r>
            <a:r>
              <a:rPr sz="1100" dirty="0" err="1"/>
              <a:t>resumen_columnas</a:t>
            </a:r>
            <a:r>
              <a:rPr sz="1100" dirty="0"/>
              <a:t>(</a:t>
            </a:r>
            <a:r>
              <a:rPr sz="1100" dirty="0" err="1"/>
              <a:t>df</a:t>
            </a:r>
            <a:r>
              <a:rPr sz="1100" dirty="0"/>
              <a:t>)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print(</a:t>
            </a:r>
            <a:r>
              <a:rPr sz="1100" dirty="0" err="1"/>
              <a:t>res.head</a:t>
            </a:r>
            <a:r>
              <a:rPr sz="1100" dirty="0"/>
              <a:t>(10))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200"/>
            </a:pPr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Ejemplo 3 — Estadísticos y top de categorías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1825625"/>
            <a:ext cx="416886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200"/>
              <a:t>Objetivo: Obtener descriptivos de columnas numéricas y, para categóricas, listar categorías más frecuentes (top-k) para detectar valores dominantes o basura.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200"/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Ejemplo 3 — Elementos y funcionalidad</a:t>
            </a: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Elementos y funcionalidad: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- select_dtypes(include=[np.number]) y describe() para numéricos.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- value_counts() en categóricas para top categorías.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200"/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Ejemplo 3 — Código (1/1)</a:t>
            </a: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400"/>
              <a:t>import numpy as np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endParaRPr lang="en-US" sz="14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400"/>
              <a:t># 1) Descriptivos para columnas numéricas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400"/>
              <a:t>desc_num = df.select_dtypes(include=[np.number]).describe().T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400"/>
              <a:t>print(desc_num)   # Transpuesta para que cada fila sea una variable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endParaRPr lang="en-US" sz="14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400"/>
              <a:t># 2) Top de categorías para columnas no numéricas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400"/>
              <a:t>cat_cols = df.select_dtypes(exclude=[np.number]).columns.tolist()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400"/>
              <a:t>for c in cat_cols[:5]:  # Limita a 5 columnas para no saturar la salida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400"/>
              <a:t>    print(f"\nTop 10 categorías en '{c}':")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400"/>
              <a:t>    print(df[c].value_counts(dropna=False).head(10))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200"/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Ejemplo 4 — Distribución de objetivo + desbalance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1825625"/>
            <a:ext cx="416886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200"/>
              <a:t>Objetivo: Explorar la distribución de la variable objetivo para detectar desbalance de clases y visualizarla con un gráfico de barras.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200"/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Ejemplo 4 — Elementos y funcionalidad</a:t>
            </a: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Elementos y funcionalidad: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- value_counts(dropna=False) y proporciones.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- Imbalance ratio (clase mayor / clase menor).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- matplotlib para gráfico de barras.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Ejemplo 4 — Código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861663" cy="400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nsolas"/>
              </a:defRPr>
            </a:pPr>
            <a:r>
              <a:rPr sz="1100" dirty="0"/>
              <a:t>import </a:t>
            </a:r>
            <a:r>
              <a:rPr sz="1100" dirty="0" err="1"/>
              <a:t>matplotlib.pyplot</a:t>
            </a:r>
            <a:r>
              <a:rPr sz="1100" dirty="0"/>
              <a:t> as </a:t>
            </a:r>
            <a:r>
              <a:rPr sz="1100" dirty="0" err="1"/>
              <a:t>plt</a:t>
            </a:r>
            <a:endParaRPr sz="1100" dirty="0"/>
          </a:p>
          <a:p>
            <a:pPr>
              <a:defRPr sz="1400">
                <a:latin typeface="Consolas"/>
              </a:defRPr>
            </a:pPr>
            <a:endParaRPr sz="1100" dirty="0"/>
          </a:p>
          <a:p>
            <a:pPr>
              <a:defRPr sz="1400">
                <a:latin typeface="Consolas"/>
              </a:defRPr>
            </a:pPr>
            <a:r>
              <a:rPr sz="1100" dirty="0" err="1"/>
              <a:t>objetivo</a:t>
            </a:r>
            <a:r>
              <a:rPr sz="1100" dirty="0"/>
              <a:t> = "</a:t>
            </a:r>
            <a:r>
              <a:rPr sz="1100" dirty="0" err="1"/>
              <a:t>clase</a:t>
            </a:r>
            <a:r>
              <a:rPr sz="1100" dirty="0"/>
              <a:t>"   # &lt;--- Cambia al </a:t>
            </a:r>
            <a:r>
              <a:rPr sz="1100" dirty="0" err="1"/>
              <a:t>nombre</a:t>
            </a:r>
            <a:r>
              <a:rPr sz="1100" dirty="0"/>
              <a:t> real de </a:t>
            </a:r>
            <a:r>
              <a:rPr sz="1100" dirty="0" err="1"/>
              <a:t>tu</a:t>
            </a:r>
            <a:r>
              <a:rPr sz="1100" dirty="0"/>
              <a:t> variable </a:t>
            </a:r>
            <a:r>
              <a:rPr sz="1100" dirty="0" err="1"/>
              <a:t>objetivo</a:t>
            </a:r>
            <a:endParaRPr sz="1100" dirty="0"/>
          </a:p>
          <a:p>
            <a:pPr>
              <a:defRPr sz="1400">
                <a:latin typeface="Consolas"/>
              </a:defRPr>
            </a:pPr>
            <a:endParaRPr sz="1100" dirty="0"/>
          </a:p>
          <a:p>
            <a:pPr>
              <a:defRPr sz="1400">
                <a:latin typeface="Consolas"/>
              </a:defRPr>
            </a:pPr>
            <a:r>
              <a:rPr sz="1100" dirty="0"/>
              <a:t>if </a:t>
            </a:r>
            <a:r>
              <a:rPr sz="1100" dirty="0" err="1"/>
              <a:t>objetivo</a:t>
            </a:r>
            <a:r>
              <a:rPr sz="1100" dirty="0"/>
              <a:t> not in </a:t>
            </a:r>
            <a:r>
              <a:rPr sz="1100" dirty="0" err="1"/>
              <a:t>df.columns</a:t>
            </a:r>
            <a:r>
              <a:rPr sz="1100" dirty="0"/>
              <a:t>: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raise </a:t>
            </a:r>
            <a:r>
              <a:rPr sz="1100" dirty="0" err="1"/>
              <a:t>KeyError</a:t>
            </a:r>
            <a:r>
              <a:rPr sz="1100" dirty="0"/>
              <a:t>(</a:t>
            </a:r>
            <a:r>
              <a:rPr sz="1100" dirty="0" err="1"/>
              <a:t>f"La</a:t>
            </a:r>
            <a:r>
              <a:rPr sz="1100" dirty="0"/>
              <a:t> </a:t>
            </a:r>
            <a:r>
              <a:rPr sz="1100" dirty="0" err="1"/>
              <a:t>columna</a:t>
            </a:r>
            <a:r>
              <a:rPr sz="1100" dirty="0"/>
              <a:t> </a:t>
            </a:r>
            <a:r>
              <a:rPr sz="1100" dirty="0" err="1"/>
              <a:t>objetivo</a:t>
            </a:r>
            <a:r>
              <a:rPr sz="1100" dirty="0"/>
              <a:t> '{</a:t>
            </a:r>
            <a:r>
              <a:rPr sz="1100" dirty="0" err="1"/>
              <a:t>objetivo</a:t>
            </a:r>
            <a:r>
              <a:rPr sz="1100" dirty="0"/>
              <a:t>}' no </a:t>
            </a:r>
            <a:r>
              <a:rPr sz="1100" dirty="0" err="1"/>
              <a:t>existe</a:t>
            </a:r>
            <a:r>
              <a:rPr sz="1100" dirty="0"/>
              <a:t> </a:t>
            </a:r>
            <a:r>
              <a:rPr sz="1100" dirty="0" err="1"/>
              <a:t>en</a:t>
            </a:r>
            <a:r>
              <a:rPr sz="1100" dirty="0"/>
              <a:t> </a:t>
            </a:r>
            <a:r>
              <a:rPr sz="1100" dirty="0" err="1"/>
              <a:t>el</a:t>
            </a:r>
            <a:r>
              <a:rPr sz="1100" dirty="0"/>
              <a:t> dataset.")</a:t>
            </a:r>
          </a:p>
          <a:p>
            <a:pPr>
              <a:defRPr sz="1400">
                <a:latin typeface="Consolas"/>
              </a:defRPr>
            </a:pPr>
            <a:endParaRPr sz="1100" dirty="0"/>
          </a:p>
          <a:p>
            <a:pPr>
              <a:defRPr sz="1400">
                <a:latin typeface="Consolas"/>
              </a:defRPr>
            </a:pPr>
            <a:r>
              <a:rPr sz="1100" dirty="0" err="1"/>
              <a:t>vc</a:t>
            </a:r>
            <a:r>
              <a:rPr sz="1100" dirty="0"/>
              <a:t> = </a:t>
            </a:r>
            <a:r>
              <a:rPr sz="1100" dirty="0" err="1"/>
              <a:t>df</a:t>
            </a:r>
            <a:r>
              <a:rPr sz="1100" dirty="0"/>
              <a:t>[</a:t>
            </a:r>
            <a:r>
              <a:rPr sz="1100" dirty="0" err="1"/>
              <a:t>objetivo</a:t>
            </a:r>
            <a:r>
              <a:rPr sz="1100" dirty="0"/>
              <a:t>].</a:t>
            </a:r>
            <a:r>
              <a:rPr sz="1100" dirty="0" err="1"/>
              <a:t>value_counts</a:t>
            </a:r>
            <a:r>
              <a:rPr sz="1100" dirty="0"/>
              <a:t>(</a:t>
            </a:r>
            <a:r>
              <a:rPr sz="1100" dirty="0" err="1"/>
              <a:t>dropna</a:t>
            </a:r>
            <a:r>
              <a:rPr sz="1100" dirty="0"/>
              <a:t>=False)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prop = (</a:t>
            </a:r>
            <a:r>
              <a:rPr sz="1100" dirty="0" err="1"/>
              <a:t>vc</a:t>
            </a:r>
            <a:r>
              <a:rPr sz="1100" dirty="0"/>
              <a:t> / </a:t>
            </a:r>
            <a:r>
              <a:rPr sz="1100" dirty="0" err="1"/>
              <a:t>len</a:t>
            </a:r>
            <a:r>
              <a:rPr sz="1100" dirty="0"/>
              <a:t>(</a:t>
            </a:r>
            <a:r>
              <a:rPr sz="1100" dirty="0" err="1"/>
              <a:t>df</a:t>
            </a:r>
            <a:r>
              <a:rPr sz="1100" dirty="0"/>
              <a:t>)).round(4)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print("</a:t>
            </a:r>
            <a:r>
              <a:rPr sz="1100" dirty="0" err="1"/>
              <a:t>Conteo</a:t>
            </a:r>
            <a:r>
              <a:rPr sz="1100" dirty="0"/>
              <a:t> </a:t>
            </a:r>
            <a:r>
              <a:rPr sz="1100" dirty="0" err="1"/>
              <a:t>por</a:t>
            </a:r>
            <a:r>
              <a:rPr sz="1100" dirty="0"/>
              <a:t> </a:t>
            </a:r>
            <a:r>
              <a:rPr sz="1100" dirty="0" err="1"/>
              <a:t>clase</a:t>
            </a:r>
            <a:r>
              <a:rPr sz="1100" dirty="0"/>
              <a:t>:\n", </a:t>
            </a:r>
            <a:r>
              <a:rPr sz="1100" dirty="0" err="1"/>
              <a:t>vc</a:t>
            </a:r>
            <a:r>
              <a:rPr sz="1100" dirty="0"/>
              <a:t>)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print("</a:t>
            </a:r>
            <a:r>
              <a:rPr sz="1100" dirty="0" err="1"/>
              <a:t>Proporción</a:t>
            </a:r>
            <a:r>
              <a:rPr sz="1100" dirty="0"/>
              <a:t> </a:t>
            </a:r>
            <a:r>
              <a:rPr sz="1100" dirty="0" err="1"/>
              <a:t>por</a:t>
            </a:r>
            <a:r>
              <a:rPr sz="1100" dirty="0"/>
              <a:t> </a:t>
            </a:r>
            <a:r>
              <a:rPr sz="1100" dirty="0" err="1"/>
              <a:t>clase</a:t>
            </a:r>
            <a:r>
              <a:rPr sz="1100" dirty="0"/>
              <a:t>:\n", prop)</a:t>
            </a:r>
          </a:p>
          <a:p>
            <a:pPr>
              <a:defRPr sz="1400">
                <a:latin typeface="Consolas"/>
              </a:defRPr>
            </a:pPr>
            <a:endParaRPr sz="1100" dirty="0"/>
          </a:p>
          <a:p>
            <a:pPr>
              <a:defRPr sz="1400">
                <a:latin typeface="Consolas"/>
              </a:defRPr>
            </a:pPr>
            <a:r>
              <a:rPr sz="1100" dirty="0" err="1"/>
              <a:t>imbalance_ratio</a:t>
            </a:r>
            <a:r>
              <a:rPr sz="1100" dirty="0"/>
              <a:t> = </a:t>
            </a:r>
            <a:r>
              <a:rPr sz="1100" dirty="0" err="1"/>
              <a:t>vc.max</a:t>
            </a:r>
            <a:r>
              <a:rPr sz="1100" dirty="0"/>
              <a:t>() / </a:t>
            </a:r>
            <a:r>
              <a:rPr sz="1100" dirty="0" err="1"/>
              <a:t>vc.min</a:t>
            </a:r>
            <a:r>
              <a:rPr sz="1100" dirty="0"/>
              <a:t>() if </a:t>
            </a:r>
            <a:r>
              <a:rPr sz="1100" dirty="0" err="1"/>
              <a:t>vc.min</a:t>
            </a:r>
            <a:r>
              <a:rPr sz="1100" dirty="0"/>
              <a:t>() &gt; 0 else float("inf")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print(</a:t>
            </a:r>
            <a:r>
              <a:rPr sz="1100" dirty="0" err="1"/>
              <a:t>f"Imbalance</a:t>
            </a:r>
            <a:r>
              <a:rPr sz="1100" dirty="0"/>
              <a:t> ratio (mayor/</a:t>
            </a:r>
            <a:r>
              <a:rPr sz="1100" dirty="0" err="1"/>
              <a:t>menor</a:t>
            </a:r>
            <a:r>
              <a:rPr sz="1100" dirty="0"/>
              <a:t>): {imbalance_ratio:.2f}")</a:t>
            </a:r>
          </a:p>
          <a:p>
            <a:pPr>
              <a:defRPr sz="1400">
                <a:latin typeface="Consolas"/>
              </a:defRPr>
            </a:pPr>
            <a:endParaRPr sz="1100" dirty="0"/>
          </a:p>
          <a:p>
            <a:pPr>
              <a:defRPr sz="1400">
                <a:latin typeface="Consolas"/>
              </a:defRPr>
            </a:pPr>
            <a:r>
              <a:rPr sz="1100" dirty="0"/>
              <a:t>ax = </a:t>
            </a:r>
            <a:r>
              <a:rPr sz="1100" dirty="0" err="1"/>
              <a:t>vc.plot</a:t>
            </a:r>
            <a:r>
              <a:rPr sz="1100" dirty="0"/>
              <a:t>(kind="bar")</a:t>
            </a:r>
          </a:p>
          <a:p>
            <a:pPr>
              <a:defRPr sz="1400">
                <a:latin typeface="Consolas"/>
              </a:defRPr>
            </a:pPr>
            <a:r>
              <a:rPr sz="1100" dirty="0" err="1"/>
              <a:t>ax.set_title</a:t>
            </a:r>
            <a:r>
              <a:rPr sz="1100" dirty="0"/>
              <a:t>(</a:t>
            </a:r>
            <a:r>
              <a:rPr sz="1100" dirty="0" err="1"/>
              <a:t>f"Distribución</a:t>
            </a:r>
            <a:r>
              <a:rPr sz="1100" dirty="0"/>
              <a:t> de la variable </a:t>
            </a:r>
            <a:r>
              <a:rPr sz="1100" dirty="0" err="1"/>
              <a:t>objetivo</a:t>
            </a:r>
            <a:r>
              <a:rPr sz="1100" dirty="0"/>
              <a:t>: {</a:t>
            </a:r>
            <a:r>
              <a:rPr sz="1100" dirty="0" err="1"/>
              <a:t>objetivo</a:t>
            </a:r>
            <a:r>
              <a:rPr sz="1100" dirty="0"/>
              <a:t>}")</a:t>
            </a:r>
          </a:p>
          <a:p>
            <a:pPr>
              <a:defRPr sz="1400">
                <a:latin typeface="Consolas"/>
              </a:defRPr>
            </a:pPr>
            <a:r>
              <a:rPr sz="1100" dirty="0" err="1"/>
              <a:t>ax.set_xlabel</a:t>
            </a:r>
            <a:r>
              <a:rPr sz="1100" dirty="0"/>
              <a:t>("</a:t>
            </a:r>
            <a:r>
              <a:rPr sz="1100" dirty="0" err="1"/>
              <a:t>Clases</a:t>
            </a:r>
            <a:r>
              <a:rPr sz="1100" dirty="0"/>
              <a:t>"); </a:t>
            </a:r>
            <a:r>
              <a:rPr sz="1100" dirty="0" err="1"/>
              <a:t>ax.set_ylabel</a:t>
            </a:r>
            <a:r>
              <a:rPr sz="1100" dirty="0"/>
              <a:t>("</a:t>
            </a:r>
            <a:r>
              <a:rPr sz="1100" dirty="0" err="1"/>
              <a:t>Frecuencia</a:t>
            </a:r>
            <a:r>
              <a:rPr sz="1100" dirty="0"/>
              <a:t>")</a:t>
            </a:r>
          </a:p>
          <a:p>
            <a:pPr>
              <a:defRPr sz="1400">
                <a:latin typeface="Consolas"/>
              </a:defRPr>
            </a:pPr>
            <a:r>
              <a:rPr sz="1100" dirty="0" err="1"/>
              <a:t>plt.tight_layout</a:t>
            </a:r>
            <a:r>
              <a:rPr sz="1100" dirty="0"/>
              <a:t>(); </a:t>
            </a:r>
            <a:r>
              <a:rPr sz="1100" dirty="0" err="1"/>
              <a:t>plt.show</a:t>
            </a:r>
            <a:r>
              <a:rPr sz="1100" dirty="0"/>
              <a:t>()</a:t>
            </a:r>
          </a:p>
          <a:p>
            <a:pPr>
              <a:defRPr sz="1400">
                <a:latin typeface="Consolas"/>
              </a:defRPr>
            </a:pPr>
            <a:endParaRPr sz="1100" dirty="0"/>
          </a:p>
          <a:p>
            <a:pPr>
              <a:defRPr sz="1400">
                <a:latin typeface="Consolas"/>
              </a:defRPr>
            </a:pPr>
            <a:r>
              <a:rPr sz="1100" dirty="0"/>
              <a:t>if </a:t>
            </a:r>
            <a:r>
              <a:rPr sz="1100" dirty="0" err="1"/>
              <a:t>imbalance_ratio</a:t>
            </a:r>
            <a:r>
              <a:rPr sz="1100" dirty="0"/>
              <a:t> &gt;= 1.5: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print("⚠️ </a:t>
            </a:r>
            <a:r>
              <a:rPr sz="1100" dirty="0" err="1"/>
              <a:t>Desbalance</a:t>
            </a:r>
            <a:r>
              <a:rPr sz="1100" dirty="0"/>
              <a:t>: </a:t>
            </a:r>
            <a:r>
              <a:rPr sz="1100" dirty="0" err="1"/>
              <a:t>usa</a:t>
            </a:r>
            <a:r>
              <a:rPr sz="1100" dirty="0"/>
              <a:t> 'stratify' </a:t>
            </a:r>
            <a:r>
              <a:rPr sz="1100" dirty="0" err="1"/>
              <a:t>en</a:t>
            </a:r>
            <a:r>
              <a:rPr sz="1100" dirty="0"/>
              <a:t> </a:t>
            </a:r>
            <a:r>
              <a:rPr sz="1100" dirty="0" err="1"/>
              <a:t>el</a:t>
            </a:r>
            <a:r>
              <a:rPr sz="1100" dirty="0"/>
              <a:t> split; </a:t>
            </a:r>
            <a:r>
              <a:rPr sz="1100" dirty="0" err="1"/>
              <a:t>reporta</a:t>
            </a:r>
            <a:r>
              <a:rPr sz="1100" dirty="0"/>
              <a:t> F1/AUC; </a:t>
            </a:r>
            <a:r>
              <a:rPr sz="1100" dirty="0" err="1"/>
              <a:t>evalúa</a:t>
            </a:r>
            <a:r>
              <a:rPr sz="1100" dirty="0"/>
              <a:t> '</a:t>
            </a:r>
            <a:r>
              <a:rPr sz="1100" dirty="0" err="1"/>
              <a:t>class_weight</a:t>
            </a:r>
            <a:r>
              <a:rPr sz="1100" dirty="0"/>
              <a:t>' o re-</a:t>
            </a:r>
            <a:r>
              <a:rPr sz="1100" dirty="0" err="1"/>
              <a:t>muestreo</a:t>
            </a:r>
            <a:r>
              <a:rPr sz="1100" dirty="0"/>
              <a:t>.")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200"/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Ejemplo 5 — Histogramas y boxplots (numéricos)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1825625"/>
            <a:ext cx="416886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200"/>
              <a:t>Objetivo: Visualizar la distribución numérica (asimetrías, colas, multimodalidad) y detectar outliers.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200"/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Ejemplo 5 — Elementos y funcionalidad</a:t>
            </a: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Elementos y funcionalidad: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- df[num_cols].hist(...) para histogramas múltiples.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- Boxplots horizontales para detectar outliers.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200"/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Ejemplo 5 — Código (1/1)</a:t>
            </a: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400"/>
              <a:t>import matplotlib.pyplot as plt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endParaRPr lang="en-US" sz="14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400"/>
              <a:t>num_cols = df.select_dtypes(include=[np.number]).columns.tolist()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endParaRPr lang="en-US" sz="14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400"/>
              <a:t># Histogramas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400"/>
              <a:t>if num_cols: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400"/>
              <a:t>    df[num_cols].hist(bins=30, figsize=(12, 8))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400"/>
              <a:t>    plt.suptitle("Histogramas variables numéricas", y=1.02)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400"/>
              <a:t>    plt.tight_layout(); plt.show()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endParaRPr lang="en-US" sz="14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400"/>
              <a:t># Boxplots horizontales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400"/>
              <a:t>if num_cols: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400"/>
              <a:t>    plt.figure(figsize=(12, max(5, len(num_cols)*0.4)))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400"/>
              <a:t>    df[num_cols].plot(kind="box", subplots=False, vert=False)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400"/>
              <a:t>    plt.title("Boxplots variables numéricas")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nsolas"/>
              </a:defRPr>
            </a:pPr>
            <a:r>
              <a:rPr lang="en-US" sz="1400"/>
              <a:t>    plt.tight_layout(); plt.show()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200"/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Ejemplo 6 — EDA mínimo reproducible (función)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1825625"/>
            <a:ext cx="416886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200"/>
              <a:t>Objetivo: Tener una función 'todo en uno' que imprima un EDA esencial y grafique la distribución del objetivo, dejando claro qué mirar antes del preprocesamiento.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200"/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Ejemplo 6 — Elementos y funcionalidad</a:t>
            </a: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Elementos y funcionalidad: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- Reutiliza resumen_columnas, select_dtypes y describe.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- Grafica la distribución del objetivo si se entrega el nombre.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Ejemplo 6 — Código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27909"/>
            <a:ext cx="6801862" cy="550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rPr sz="1100" dirty="0"/>
              <a:t>def </a:t>
            </a:r>
            <a:r>
              <a:rPr sz="1100" dirty="0" err="1"/>
              <a:t>eda_minimo</a:t>
            </a:r>
            <a:r>
              <a:rPr sz="1100" dirty="0"/>
              <a:t>(</a:t>
            </a:r>
            <a:r>
              <a:rPr sz="1100" dirty="0" err="1"/>
              <a:t>df</a:t>
            </a:r>
            <a:r>
              <a:rPr sz="1100" dirty="0"/>
              <a:t>: </a:t>
            </a:r>
            <a:r>
              <a:rPr sz="1100" dirty="0" err="1"/>
              <a:t>pd.DataFrame</a:t>
            </a:r>
            <a:r>
              <a:rPr sz="1100" dirty="0"/>
              <a:t>, </a:t>
            </a:r>
            <a:r>
              <a:rPr sz="1100" dirty="0" err="1"/>
              <a:t>objetivo</a:t>
            </a:r>
            <a:r>
              <a:rPr sz="1100" dirty="0"/>
              <a:t>: </a:t>
            </a:r>
            <a:r>
              <a:rPr sz="1100" dirty="0" err="1"/>
              <a:t>str|None</a:t>
            </a:r>
            <a:r>
              <a:rPr sz="1100" dirty="0"/>
              <a:t>=None, </a:t>
            </a:r>
            <a:r>
              <a:rPr sz="1100" dirty="0" err="1"/>
              <a:t>max_cats:int</a:t>
            </a:r>
            <a:r>
              <a:rPr sz="1100" dirty="0"/>
              <a:t>=10) -&gt; None: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"""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</a:t>
            </a:r>
            <a:r>
              <a:rPr sz="1100" dirty="0" err="1"/>
              <a:t>Imprime</a:t>
            </a:r>
            <a:r>
              <a:rPr sz="1100" dirty="0"/>
              <a:t> un EDA </a:t>
            </a:r>
            <a:r>
              <a:rPr sz="1100" dirty="0" err="1"/>
              <a:t>esencial</a:t>
            </a:r>
            <a:r>
              <a:rPr sz="1100" dirty="0"/>
              <a:t>: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- </a:t>
            </a:r>
            <a:r>
              <a:rPr sz="1100" dirty="0" err="1"/>
              <a:t>Resumen</a:t>
            </a:r>
            <a:r>
              <a:rPr sz="1100" dirty="0"/>
              <a:t> de </a:t>
            </a:r>
            <a:r>
              <a:rPr sz="1100" dirty="0" err="1"/>
              <a:t>columnas</a:t>
            </a:r>
            <a:r>
              <a:rPr sz="1100" dirty="0"/>
              <a:t> (</a:t>
            </a:r>
            <a:r>
              <a:rPr sz="1100" dirty="0" err="1"/>
              <a:t>tipo</a:t>
            </a:r>
            <a:r>
              <a:rPr sz="1100" dirty="0"/>
              <a:t>, </a:t>
            </a:r>
            <a:r>
              <a:rPr sz="1100" dirty="0" err="1"/>
              <a:t>faltantes</a:t>
            </a:r>
            <a:r>
              <a:rPr sz="1100" dirty="0"/>
              <a:t>, %</a:t>
            </a:r>
            <a:r>
              <a:rPr sz="1100" dirty="0" err="1"/>
              <a:t>faltantes</a:t>
            </a:r>
            <a:r>
              <a:rPr sz="1100" dirty="0"/>
              <a:t>, </a:t>
            </a:r>
            <a:r>
              <a:rPr sz="1100" dirty="0" err="1"/>
              <a:t>cardinalidad</a:t>
            </a:r>
            <a:r>
              <a:rPr sz="1100" dirty="0"/>
              <a:t>, </a:t>
            </a:r>
            <a:r>
              <a:rPr sz="1100" dirty="0" err="1"/>
              <a:t>binaria</a:t>
            </a:r>
            <a:r>
              <a:rPr sz="1100" dirty="0"/>
              <a:t> textual)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- </a:t>
            </a:r>
            <a:r>
              <a:rPr sz="1100" dirty="0" err="1"/>
              <a:t>Descriptivos</a:t>
            </a:r>
            <a:r>
              <a:rPr sz="1100" dirty="0"/>
              <a:t> </a:t>
            </a:r>
            <a:r>
              <a:rPr sz="1100" dirty="0" err="1"/>
              <a:t>numéricos</a:t>
            </a:r>
            <a:endParaRPr sz="1100" dirty="0"/>
          </a:p>
          <a:p>
            <a:pPr>
              <a:defRPr sz="1400">
                <a:latin typeface="Consolas"/>
              </a:defRPr>
            </a:pPr>
            <a:r>
              <a:rPr sz="1100" dirty="0"/>
              <a:t>    - </a:t>
            </a:r>
            <a:r>
              <a:rPr sz="1100" dirty="0" err="1"/>
              <a:t>Distribución</a:t>
            </a:r>
            <a:r>
              <a:rPr sz="1100" dirty="0"/>
              <a:t> de </a:t>
            </a:r>
            <a:r>
              <a:rPr sz="1100" dirty="0" err="1"/>
              <a:t>objetivo</a:t>
            </a:r>
            <a:r>
              <a:rPr sz="1100" dirty="0"/>
              <a:t> (</a:t>
            </a:r>
            <a:r>
              <a:rPr sz="1100" dirty="0" err="1"/>
              <a:t>si</a:t>
            </a:r>
            <a:r>
              <a:rPr sz="1100" dirty="0"/>
              <a:t> se </a:t>
            </a:r>
            <a:r>
              <a:rPr sz="1100" dirty="0" err="1"/>
              <a:t>especifica</a:t>
            </a:r>
            <a:r>
              <a:rPr sz="1100" dirty="0"/>
              <a:t>)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- Top de </a:t>
            </a:r>
            <a:r>
              <a:rPr sz="1100" dirty="0" err="1"/>
              <a:t>categorías</a:t>
            </a:r>
            <a:r>
              <a:rPr sz="1100" dirty="0"/>
              <a:t> </a:t>
            </a:r>
            <a:r>
              <a:rPr sz="1100" dirty="0" err="1"/>
              <a:t>en</a:t>
            </a:r>
            <a:r>
              <a:rPr sz="1100" dirty="0"/>
              <a:t> variables no </a:t>
            </a:r>
            <a:r>
              <a:rPr sz="1100" dirty="0" err="1"/>
              <a:t>numéricas</a:t>
            </a:r>
            <a:r>
              <a:rPr sz="1100" dirty="0"/>
              <a:t> (hasta '</a:t>
            </a:r>
            <a:r>
              <a:rPr sz="1100" dirty="0" err="1"/>
              <a:t>max_cats</a:t>
            </a:r>
            <a:r>
              <a:rPr sz="1100" dirty="0"/>
              <a:t>')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"""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print("\n=== RESUMEN DE COLUMNAS ===")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print(</a:t>
            </a:r>
            <a:r>
              <a:rPr sz="1100" dirty="0" err="1"/>
              <a:t>resumen_columnas</a:t>
            </a:r>
            <a:r>
              <a:rPr sz="1100" dirty="0"/>
              <a:t>(</a:t>
            </a:r>
            <a:r>
              <a:rPr sz="1100" dirty="0" err="1"/>
              <a:t>df</a:t>
            </a:r>
            <a:r>
              <a:rPr sz="1100" dirty="0"/>
              <a:t>).head(20))</a:t>
            </a:r>
          </a:p>
          <a:p>
            <a:pPr>
              <a:defRPr sz="1400">
                <a:latin typeface="Consolas"/>
              </a:defRPr>
            </a:pPr>
            <a:endParaRPr sz="1100" dirty="0"/>
          </a:p>
          <a:p>
            <a:pPr>
              <a:defRPr sz="1400">
                <a:latin typeface="Consolas"/>
              </a:defRPr>
            </a:pPr>
            <a:r>
              <a:rPr sz="1100" dirty="0"/>
              <a:t>    print("\n=== DESCRIPTIVOS NUMÉRICOS ===")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print(</a:t>
            </a:r>
            <a:r>
              <a:rPr sz="1100" dirty="0" err="1"/>
              <a:t>df.select_dtypes</a:t>
            </a:r>
            <a:r>
              <a:rPr sz="1100" dirty="0"/>
              <a:t>(include=[</a:t>
            </a:r>
            <a:r>
              <a:rPr sz="1100" dirty="0" err="1"/>
              <a:t>np.number</a:t>
            </a:r>
            <a:r>
              <a:rPr sz="1100" dirty="0"/>
              <a:t>]).describe().T)</a:t>
            </a:r>
          </a:p>
          <a:p>
            <a:pPr>
              <a:defRPr sz="1400">
                <a:latin typeface="Consolas"/>
              </a:defRPr>
            </a:pPr>
            <a:endParaRPr sz="1100" dirty="0"/>
          </a:p>
          <a:p>
            <a:pPr>
              <a:defRPr sz="1400">
                <a:latin typeface="Consolas"/>
              </a:defRPr>
            </a:pPr>
            <a:r>
              <a:rPr sz="1100" dirty="0"/>
              <a:t>    if </a:t>
            </a:r>
            <a:r>
              <a:rPr sz="1100" dirty="0" err="1"/>
              <a:t>objetivo</a:t>
            </a:r>
            <a:r>
              <a:rPr sz="1100" dirty="0"/>
              <a:t> and </a:t>
            </a:r>
            <a:r>
              <a:rPr sz="1100" dirty="0" err="1"/>
              <a:t>objetivo</a:t>
            </a:r>
            <a:r>
              <a:rPr sz="1100" dirty="0"/>
              <a:t> in </a:t>
            </a:r>
            <a:r>
              <a:rPr sz="1100" dirty="0" err="1"/>
              <a:t>df.columns</a:t>
            </a:r>
            <a:r>
              <a:rPr sz="1100" dirty="0"/>
              <a:t>: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    print("\n=== DISTRIBUCIÓN OBJETIVO ===")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    </a:t>
            </a:r>
            <a:r>
              <a:rPr sz="1100" dirty="0" err="1"/>
              <a:t>vc</a:t>
            </a:r>
            <a:r>
              <a:rPr sz="1100" dirty="0"/>
              <a:t> = </a:t>
            </a:r>
            <a:r>
              <a:rPr sz="1100" dirty="0" err="1"/>
              <a:t>df</a:t>
            </a:r>
            <a:r>
              <a:rPr sz="1100" dirty="0"/>
              <a:t>[</a:t>
            </a:r>
            <a:r>
              <a:rPr sz="1100" dirty="0" err="1"/>
              <a:t>objetivo</a:t>
            </a:r>
            <a:r>
              <a:rPr sz="1100" dirty="0"/>
              <a:t>].</a:t>
            </a:r>
            <a:r>
              <a:rPr sz="1100" dirty="0" err="1"/>
              <a:t>value_counts</a:t>
            </a:r>
            <a:r>
              <a:rPr sz="1100" dirty="0"/>
              <a:t>(</a:t>
            </a:r>
            <a:r>
              <a:rPr sz="1100" dirty="0" err="1"/>
              <a:t>dropna</a:t>
            </a:r>
            <a:r>
              <a:rPr sz="1100" dirty="0"/>
              <a:t>=False)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    prop = (</a:t>
            </a:r>
            <a:r>
              <a:rPr sz="1100" dirty="0" err="1"/>
              <a:t>vc</a:t>
            </a:r>
            <a:r>
              <a:rPr sz="1100" dirty="0"/>
              <a:t>/</a:t>
            </a:r>
            <a:r>
              <a:rPr sz="1100" dirty="0" err="1"/>
              <a:t>len</a:t>
            </a:r>
            <a:r>
              <a:rPr sz="1100" dirty="0"/>
              <a:t>(</a:t>
            </a:r>
            <a:r>
              <a:rPr sz="1100" dirty="0" err="1"/>
              <a:t>df</a:t>
            </a:r>
            <a:r>
              <a:rPr sz="1100" dirty="0"/>
              <a:t>)).round(4)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    print(</a:t>
            </a:r>
            <a:r>
              <a:rPr sz="1100" dirty="0" err="1"/>
              <a:t>vc</a:t>
            </a:r>
            <a:r>
              <a:rPr sz="1100" dirty="0"/>
              <a:t>); print(prop)</a:t>
            </a:r>
          </a:p>
          <a:p>
            <a:pPr>
              <a:defRPr sz="1400">
                <a:latin typeface="Consolas"/>
              </a:defRPr>
            </a:pPr>
            <a:endParaRPr sz="1100" dirty="0"/>
          </a:p>
          <a:p>
            <a:pPr>
              <a:defRPr sz="1400">
                <a:latin typeface="Consolas"/>
              </a:defRPr>
            </a:pPr>
            <a:r>
              <a:rPr sz="1100" dirty="0"/>
              <a:t>        ax = </a:t>
            </a:r>
            <a:r>
              <a:rPr sz="1100" dirty="0" err="1"/>
              <a:t>vc.plot</a:t>
            </a:r>
            <a:r>
              <a:rPr sz="1100" dirty="0"/>
              <a:t>(kind="bar")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    </a:t>
            </a:r>
            <a:r>
              <a:rPr sz="1100" dirty="0" err="1"/>
              <a:t>ax.set_title</a:t>
            </a:r>
            <a:r>
              <a:rPr sz="1100" dirty="0"/>
              <a:t>(</a:t>
            </a:r>
            <a:r>
              <a:rPr sz="1100" dirty="0" err="1"/>
              <a:t>f"Distribución</a:t>
            </a:r>
            <a:r>
              <a:rPr sz="1100" dirty="0"/>
              <a:t> </a:t>
            </a:r>
            <a:r>
              <a:rPr sz="1100" dirty="0" err="1"/>
              <a:t>objetivo</a:t>
            </a:r>
            <a:r>
              <a:rPr sz="1100" dirty="0"/>
              <a:t>: {</a:t>
            </a:r>
            <a:r>
              <a:rPr sz="1100" dirty="0" err="1"/>
              <a:t>objetivo</a:t>
            </a:r>
            <a:r>
              <a:rPr sz="1100" dirty="0"/>
              <a:t>}")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    </a:t>
            </a:r>
            <a:r>
              <a:rPr sz="1100" dirty="0" err="1"/>
              <a:t>ax.set_xlabel</a:t>
            </a:r>
            <a:r>
              <a:rPr sz="1100" dirty="0"/>
              <a:t>("</a:t>
            </a:r>
            <a:r>
              <a:rPr sz="1100" dirty="0" err="1"/>
              <a:t>Clases</a:t>
            </a:r>
            <a:r>
              <a:rPr sz="1100" dirty="0"/>
              <a:t>"); </a:t>
            </a:r>
            <a:r>
              <a:rPr sz="1100" dirty="0" err="1"/>
              <a:t>ax.set_ylabel</a:t>
            </a:r>
            <a:r>
              <a:rPr sz="1100" dirty="0"/>
              <a:t>("</a:t>
            </a:r>
            <a:r>
              <a:rPr sz="1100" dirty="0" err="1"/>
              <a:t>Frecuencia</a:t>
            </a:r>
            <a:r>
              <a:rPr sz="1100" dirty="0"/>
              <a:t>")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    </a:t>
            </a:r>
            <a:r>
              <a:rPr sz="1100" dirty="0" err="1"/>
              <a:t>plt.tight_layout</a:t>
            </a:r>
            <a:r>
              <a:rPr sz="1100" dirty="0"/>
              <a:t>(); </a:t>
            </a:r>
            <a:r>
              <a:rPr sz="1100" dirty="0" err="1"/>
              <a:t>plt.show</a:t>
            </a:r>
            <a:r>
              <a:rPr sz="1100" dirty="0"/>
              <a:t>()</a:t>
            </a:r>
          </a:p>
          <a:p>
            <a:pPr>
              <a:defRPr sz="1400">
                <a:latin typeface="Consolas"/>
              </a:defRPr>
            </a:pPr>
            <a:endParaRPr sz="1100" dirty="0"/>
          </a:p>
          <a:p>
            <a:pPr>
              <a:defRPr sz="1400">
                <a:latin typeface="Consolas"/>
              </a:defRPr>
            </a:pPr>
            <a:r>
              <a:rPr sz="1100" dirty="0"/>
              <a:t>    </a:t>
            </a:r>
            <a:r>
              <a:rPr sz="1100" dirty="0" err="1"/>
              <a:t>cat_cols</a:t>
            </a:r>
            <a:r>
              <a:rPr sz="1100" dirty="0"/>
              <a:t> = </a:t>
            </a:r>
            <a:r>
              <a:rPr sz="1100" dirty="0" err="1"/>
              <a:t>df.select_dtypes</a:t>
            </a:r>
            <a:r>
              <a:rPr sz="1100" dirty="0"/>
              <a:t>(exclude=[</a:t>
            </a:r>
            <a:r>
              <a:rPr sz="1100" dirty="0" err="1"/>
              <a:t>np.number</a:t>
            </a:r>
            <a:r>
              <a:rPr sz="1100" dirty="0"/>
              <a:t>]).</a:t>
            </a:r>
            <a:r>
              <a:rPr sz="1100" dirty="0" err="1"/>
              <a:t>columns.tolist</a:t>
            </a:r>
            <a:r>
              <a:rPr sz="1100" dirty="0"/>
              <a:t>()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for c in </a:t>
            </a:r>
            <a:r>
              <a:rPr sz="1100" dirty="0" err="1"/>
              <a:t>cat_cols</a:t>
            </a:r>
            <a:r>
              <a:rPr sz="1100" dirty="0"/>
              <a:t>[:5]: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    print(f"\</a:t>
            </a:r>
            <a:r>
              <a:rPr sz="1100" dirty="0" err="1"/>
              <a:t>nTop</a:t>
            </a:r>
            <a:r>
              <a:rPr sz="1100" dirty="0"/>
              <a:t> {</a:t>
            </a:r>
            <a:r>
              <a:rPr sz="1100" dirty="0" err="1"/>
              <a:t>max_cats</a:t>
            </a:r>
            <a:r>
              <a:rPr sz="1100" dirty="0"/>
              <a:t>} </a:t>
            </a:r>
            <a:r>
              <a:rPr sz="1100" dirty="0" err="1"/>
              <a:t>categorías</a:t>
            </a:r>
            <a:r>
              <a:rPr sz="1100" dirty="0"/>
              <a:t> </a:t>
            </a:r>
            <a:r>
              <a:rPr sz="1100" dirty="0" err="1"/>
              <a:t>en</a:t>
            </a:r>
            <a:r>
              <a:rPr sz="1100" dirty="0"/>
              <a:t> '{c}':")</a:t>
            </a:r>
          </a:p>
          <a:p>
            <a:pPr>
              <a:defRPr sz="1400">
                <a:latin typeface="Consolas"/>
              </a:defRPr>
            </a:pPr>
            <a:r>
              <a:rPr sz="1100" dirty="0"/>
              <a:t>        print(</a:t>
            </a:r>
            <a:r>
              <a:rPr sz="1100" dirty="0" err="1"/>
              <a:t>df</a:t>
            </a:r>
            <a:r>
              <a:rPr sz="1100" dirty="0"/>
              <a:t>[c].</a:t>
            </a:r>
            <a:r>
              <a:rPr sz="1100" dirty="0" err="1"/>
              <a:t>value_counts</a:t>
            </a:r>
            <a:r>
              <a:rPr sz="1100" dirty="0"/>
              <a:t>(</a:t>
            </a:r>
            <a:r>
              <a:rPr sz="1100" dirty="0" err="1"/>
              <a:t>dropna</a:t>
            </a:r>
            <a:r>
              <a:rPr sz="1100" dirty="0"/>
              <a:t>=False).head(</a:t>
            </a:r>
            <a:r>
              <a:rPr sz="1100" dirty="0" err="1"/>
              <a:t>max_cats</a:t>
            </a:r>
            <a:r>
              <a:rPr sz="1100" dirty="0"/>
              <a:t>))</a:t>
            </a:r>
          </a:p>
          <a:p>
            <a:pPr>
              <a:defRPr sz="1400">
                <a:latin typeface="Consolas"/>
              </a:defRPr>
            </a:pPr>
            <a:endParaRPr sz="1100" dirty="0"/>
          </a:p>
          <a:p>
            <a:pPr>
              <a:defRPr sz="1400">
                <a:latin typeface="Consolas"/>
              </a:defRPr>
            </a:pPr>
            <a:r>
              <a:rPr sz="1100" dirty="0"/>
              <a:t># === USO DIDÁCTICO ===</a:t>
            </a:r>
          </a:p>
          <a:p>
            <a:pPr>
              <a:defRPr sz="1400">
                <a:latin typeface="Consolas"/>
              </a:defRPr>
            </a:pPr>
            <a:r>
              <a:rPr sz="1100" dirty="0" err="1"/>
              <a:t>eda_minimo</a:t>
            </a:r>
            <a:r>
              <a:rPr sz="1100" dirty="0"/>
              <a:t>(</a:t>
            </a:r>
            <a:r>
              <a:rPr sz="1100" dirty="0" err="1"/>
              <a:t>df</a:t>
            </a:r>
            <a:r>
              <a:rPr sz="1100" dirty="0"/>
              <a:t>, </a:t>
            </a:r>
            <a:r>
              <a:rPr sz="1100" dirty="0" err="1"/>
              <a:t>objetivo</a:t>
            </a:r>
            <a:r>
              <a:rPr sz="1100" dirty="0"/>
              <a:t>="</a:t>
            </a:r>
            <a:r>
              <a:rPr sz="1100" dirty="0" err="1"/>
              <a:t>clase</a:t>
            </a:r>
            <a:r>
              <a:rPr sz="1100" dirty="0"/>
              <a:t>", </a:t>
            </a:r>
            <a:r>
              <a:rPr sz="1100" dirty="0" err="1"/>
              <a:t>max_cats</a:t>
            </a:r>
            <a:r>
              <a:rPr sz="1100" dirty="0"/>
              <a:t>=10)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3224</Words>
  <Application>Microsoft Office PowerPoint</Application>
  <PresentationFormat>Presentación en pantalla (4:3)</PresentationFormat>
  <Paragraphs>311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Carga y Análisis Exploratorio de Datos (EDA)  </vt:lpstr>
      <vt:lpstr>¿Por qué empezar por EDA?</vt:lpstr>
      <vt:lpstr>Objetivos de aprendizaje</vt:lpstr>
      <vt:lpstr>Checklist rápido</vt:lpstr>
      <vt:lpstr>pandas (pd) </vt:lpstr>
      <vt:lpstr>pandas (pd) </vt:lpstr>
      <vt:lpstr>pandas (pd) </vt:lpstr>
      <vt:lpstr>Caja de herramientas: ¿qué se usa y para qué?</vt:lpstr>
      <vt:lpstr>Estructura de directorios sugerida </vt:lpstr>
      <vt:lpstr>Librerías principales utilizadas</vt:lpstr>
      <vt:lpstr>Cómo importar cada librería necesaria</vt:lpstr>
      <vt:lpstr>Ejemplo 1 — Carga robusta de CSV</vt:lpstr>
      <vt:lpstr>Ejemplo 1 — Elementos y funcionalidad</vt:lpstr>
      <vt:lpstr>Ejemplo 1 — Código (1/1)</vt:lpstr>
      <vt:lpstr>Ejemplo 2 — Tabla de calidad de columnas</vt:lpstr>
      <vt:lpstr>Ejemplo 2 — Elementos y funcionalidad</vt:lpstr>
      <vt:lpstr>Ejemplo 2 — Código (1/1)</vt:lpstr>
      <vt:lpstr>Ejemplo 3 — Estadísticos y top de categorías</vt:lpstr>
      <vt:lpstr>Ejemplo 3 — Elementos y funcionalidad</vt:lpstr>
      <vt:lpstr>Ejemplo 3 — Código (1/1)</vt:lpstr>
      <vt:lpstr>Ejemplo 4 — Distribución de objetivo + desbalance</vt:lpstr>
      <vt:lpstr>Ejemplo 4 — Elementos y funcionalidad</vt:lpstr>
      <vt:lpstr>Ejemplo 4 — Código (1/1)</vt:lpstr>
      <vt:lpstr>Ejemplo 5 — Histogramas y boxplots (numéricos)</vt:lpstr>
      <vt:lpstr>Ejemplo 5 — Elementos y funcionalidad</vt:lpstr>
      <vt:lpstr>Ejemplo 5 — Código (1/1)</vt:lpstr>
      <vt:lpstr>Ejemplo 6 — EDA mínimo reproducible (función)</vt:lpstr>
      <vt:lpstr>Ejemplo 6 — Elementos y funcionalidad</vt:lpstr>
      <vt:lpstr>Ejemplo 6 — Código (1/1)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JORGE BAEZA OYRAZO</cp:lastModifiedBy>
  <cp:revision>4</cp:revision>
  <dcterms:created xsi:type="dcterms:W3CDTF">2013-01-27T09:14:16Z</dcterms:created>
  <dcterms:modified xsi:type="dcterms:W3CDTF">2025-09-25T22:38:43Z</dcterms:modified>
  <cp:category/>
</cp:coreProperties>
</file>